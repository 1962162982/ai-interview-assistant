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svg"/><Relationship Id="rId7" Type="http://schemas.openxmlformats.org/officeDocument/2006/relationships/image" Target="../media/image28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12, background: '#0E3F8C' }} /&gt;&#10;  &lt;Box style={{ flex: 1, flexDirection: 'column', justifyContent: 'center', padding: '0 110px' }}&gt;&#10;    &lt;Text style={{ fontSize: 22, color: '#3D7BD9', letterSpacing: 4, fontWeight: 'bold' }}&gt;课程项目 · 开题汇报&lt;/Text&gt;&#10;    &lt;Text style={{ fontSize: 58, fontWeight: 'bold', color: '#0E3F8C', marginTop: 18 }}&gt;AI 模拟面试与简历诊断助手&lt;/Text&gt;&#10;    &lt;Box style={{ height: 3, width: 140, background: '#FFC107', margin: '26px 0' }} /&gt;&#10;    &lt;Text style={{ fontSize: 28, color: '#4A5568', fontStyle: 'italic' }}&gt;AI Mock Interview &amp;amp; Resume Diagnosis Assistant&lt;/Text&gt;&#10;    &lt;Text style={{ fontSize: 24, color: '#1A2230', marginTop: 22, lineHeight: 1.6 }}&gt;面向实习、秋招与保研面试的智能辅助系统&lt;/Text&gt;&#10;  &lt;/Box&gt;&#10;  &lt;Box style={{ height: 96, background: '#0E3F8C', flexDirection: 'row', alignItems: 'center', justifyContent: 'space-between', padding: '0 110px' }}&gt;&#10;    &lt;Text style={{ color: '#FFFFFF', fontSize: 20 }}&gt;汇报人：__________　　专业班级：__________&lt;/Text&gt;&#10;    &lt;Text style={{ color: '#9DB8E0', fontSize: 18 }}&gt;2026 年 10 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1047750" y="1733550"/>
            <a:ext cx="10096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 spc="300">
                <a:solidFill>
                  <a:srgbClr val="3D7BD9"/>
                </a:solidFill>
                <a:latin typeface="Microsoft YaHei"/>
                <a:ea typeface="Microsoft YaHei"/>
              </a:rPr>
              <a:t>课程项目</a:t>
            </a:r>
            <a:r>
              <a:rPr lang="en-US" sz="1650" b="1" spc="300">
                <a:solidFill>
                  <a:srgbClr val="3D7BD9"/>
                </a:solidFill>
                <a:latin typeface="Microsoft YaHei"/>
                <a:ea typeface="Microsoft YaHei"/>
              </a:rPr>
              <a:t> · </a:t>
            </a:r>
            <a:r>
              <a:rPr lang="zh-CN" sz="1650" b="1" spc="300">
                <a:solidFill>
                  <a:srgbClr val="3D7BD9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1047750" y="2162175"/>
            <a:ext cx="100965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0E3F8C"/>
                </a:solidFill>
                <a:latin typeface="Microsoft YaHei"/>
                <a:ea typeface="Microsoft YaHei"/>
              </a:rPr>
              <a:t>AI </a:t>
            </a:r>
            <a:r>
              <a:rPr lang="zh-CN" sz="4350" b="1">
                <a:solidFill>
                  <a:srgbClr val="0E3F8C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6" name="矩形 5"/>
          <p:cNvSpPr/>
          <p:nvPr/>
        </p:nvSpPr>
        <p:spPr>
          <a:xfrm>
            <a:off x="1047750" y="3076575"/>
            <a:ext cx="13335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047750" y="3352800"/>
            <a:ext cx="10096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i="1">
                <a:solidFill>
                  <a:srgbClr val="4A5568"/>
                </a:solidFill>
                <a:latin typeface="Microsoft YaHei"/>
                <a:ea typeface="Microsoft YaHei"/>
              </a:rPr>
              <a:t>AI Mock Interview &amp; Resume Diagnosis Assistant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1047750" y="3886200"/>
            <a:ext cx="100965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面向实习、秋招与保研面试的智能辅助系统</a:t>
            </a:r>
            <a:endParaRPr/>
          </a:p>
        </p:txBody>
      </p:sp>
      <p:sp>
        <p:nvSpPr>
          <p:cNvPr id="9" name="矩形 8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1047750" y="6286500"/>
            <a:ext cx="3810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</a:rPr>
              <a:t>汇报人：</a:t>
            </a:r>
            <a:r>
              <a:rPr lang="zh-CN" altLang="en-US" sz="1500" dirty="0">
                <a:solidFill>
                  <a:srgbClr val="FFFFFF"/>
                </a:solidFill>
                <a:latin typeface="Microsoft YaHei"/>
                <a:ea typeface="Microsoft YaHei"/>
              </a:rPr>
              <a:t>何云川</a:t>
            </a:r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endParaRPr dirty="0"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0039350" y="6296025"/>
            <a:ext cx="1104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9DB8E0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9DB8E0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9DB8E0"/>
                </a:solidFill>
                <a:latin typeface="Microsoft YaHei"/>
                <a:ea typeface="Microsoft YaHei"/>
              </a:rPr>
              <a:t> 10 </a:t>
            </a:r>
            <a:r>
              <a:rPr lang="zh-CN" sz="1350">
                <a:solidFill>
                  <a:srgbClr val="9DB8E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row' }}&gt;&#10;  &lt;Box style={{ width: 380, background: '#0E3F8C', flexDirection: 'column', justifyContent: 'center', padding: '0 50px' }}&gt;&#10;    &lt;Text style={{ fontSize: 60, fontWeight: 'bold', color: '#FFFFFF' }}&gt;目录&lt;/Text&gt;&#10;    &lt;Text style={{ fontSize: 24, color: '#9DB8E0', letterSpacing: 6, marginTop: 12 }}&gt;CONTENTS&lt;/Text&gt;&#10;    &lt;Box style={{ height: 3, width: 80, background: '#FFC107', margin: '26px 0' }} /&gt;&#10;    &lt;Text style={{ fontSize: 18, color: '#CBD9EF', lineHeight: 1.8 }}&gt;AI 模拟面试与简历诊断助手&lt;br /&gt;课程项目开题汇报&lt;/Text&gt;&#10;  &lt;/Box&gt;&#10;  &lt;Box style={{ flex: 1, flexDirection: 'column', justifyContent: 'center', padding: '0 70px', gap: 26 }}&gt;&#10;    {[&#10;      { n: '01', t: '选题背景与场景', d: '为什么做：典型求职与升学场景' },&#10;      { n: '02', t: '需求分析', d: '四类核心功能诉求' },&#10;      { n: '03', t: '现存问题分析', d: '当前面试练习的三大痛点' },&#10;      { n: '04', t: '方案设计', d: '系统架构 · 功能模块 · 技术路线' },&#10;      { n: '05', t: '创新点与预期成果', d: '差异化价值与量化目标' },&#10;      { n: '06', t: '进度安排', d: '四阶段开发与交付计划' },&#10;    ].map((it, i) =&gt; (&#10;      &lt;Box key={i} style={{ flexDirection: 'row', alignItems: 'center', gap: 22 }}&gt;&#10;        &lt;Text style={{ fontSize: 34, fontWeight: 'bold', color: '#1E4FA8', width: 64 }}&gt;{it.n}&lt;/Text&gt;&#10;        &lt;Box style={{ width: 3, height: 40, background: '#D6DCE5' }} /&gt;&#10;        &lt;Box&gt;&#10;          &lt;Text style={{ fontSize: 26, fontWeight: 'bold', color: '#1A2230' }}&gt;{it.t}&lt;/Text&gt;&#10;          &lt;Text style={{ fontSize: 18, color: '#8B97A8', marginTop: 2 }}&gt;{it.d}&lt;/Text&gt;&#10;        &lt;/Box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476250" y="2257425"/>
            <a:ext cx="26670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76250" y="3057525"/>
            <a:ext cx="2667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spc="450">
                <a:solidFill>
                  <a:srgbClr val="9DB8E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37" name="矩形 36"/>
          <p:cNvSpPr/>
          <p:nvPr/>
        </p:nvSpPr>
        <p:spPr>
          <a:xfrm>
            <a:off x="476250" y="3581400"/>
            <a:ext cx="7620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76250" y="3857625"/>
            <a:ext cx="26670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350">
                <a:solidFill>
                  <a:srgbClr val="CBD9EF"/>
                </a:solidFill>
                <a:latin typeface="Microsoft YaHei"/>
                <a:ea typeface="Microsoft YaHei"/>
              </a:rPr>
              <a:t>AI </a:t>
            </a:r>
            <a:r>
              <a:rPr lang="zh-CN" sz="1350">
                <a:solidFill>
                  <a:srgbClr val="CBD9EF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CBD9EF"/>
                </a:solidFill>
                <a:latin typeface="Microsoft YaHei"/>
                <a:ea typeface="Microsoft YaHei"/>
              </a:rPr>
              <a:t>课程项目开题汇报</a:t>
            </a:r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286250" y="1285875"/>
            <a:ext cx="6096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" name="矩形 39"/>
          <p:cNvSpPr/>
          <p:nvPr/>
        </p:nvSpPr>
        <p:spPr>
          <a:xfrm>
            <a:off x="5105400" y="1285875"/>
            <a:ext cx="28575" cy="381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5343525" y="1209675"/>
            <a:ext cx="2400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选题背景与场景</a:t>
            </a:r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5343525" y="1533525"/>
            <a:ext cx="2400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为什么做：典型求职与升学场景</a:t>
            </a:r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4286250" y="2066925"/>
            <a:ext cx="6096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" name="矩形 43"/>
          <p:cNvSpPr/>
          <p:nvPr/>
        </p:nvSpPr>
        <p:spPr>
          <a:xfrm>
            <a:off x="5105400" y="2066925"/>
            <a:ext cx="28575" cy="381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5343525" y="1990725"/>
            <a:ext cx="13716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需求分析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5343525" y="2314575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四类核心功能诉求</a:t>
            </a:r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4286250" y="2847975"/>
            <a:ext cx="6096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8" name="矩形 47"/>
          <p:cNvSpPr/>
          <p:nvPr/>
        </p:nvSpPr>
        <p:spPr>
          <a:xfrm>
            <a:off x="5105400" y="2847975"/>
            <a:ext cx="28575" cy="381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343525" y="2771775"/>
            <a:ext cx="18859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现存问题分析</a:t>
            </a:r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5343525" y="3095625"/>
            <a:ext cx="188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当前面试练习的三大痛点</a:t>
            </a:r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4286250" y="3629025"/>
            <a:ext cx="6096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2" name="矩形 51"/>
          <p:cNvSpPr/>
          <p:nvPr/>
        </p:nvSpPr>
        <p:spPr>
          <a:xfrm>
            <a:off x="5105400" y="3629025"/>
            <a:ext cx="28575" cy="381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5343525" y="3552825"/>
            <a:ext cx="2343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方案设计</a:t>
            </a:r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5343525" y="3876675"/>
            <a:ext cx="2343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系统架构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功能模块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技术路线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286250" y="4410075"/>
            <a:ext cx="6096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6" name="矩形 55"/>
          <p:cNvSpPr/>
          <p:nvPr/>
        </p:nvSpPr>
        <p:spPr>
          <a:xfrm>
            <a:off x="5105400" y="4410075"/>
            <a:ext cx="28575" cy="381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343525" y="4333875"/>
            <a:ext cx="1981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创新点与预期成果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343525" y="4657725"/>
            <a:ext cx="1981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差异化价值与量化目标</a:t>
            </a:r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4286250" y="5191125"/>
            <a:ext cx="6096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0" name="矩形 59"/>
          <p:cNvSpPr/>
          <p:nvPr/>
        </p:nvSpPr>
        <p:spPr>
          <a:xfrm>
            <a:off x="5105400" y="5191125"/>
            <a:ext cx="28575" cy="381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5343525" y="5114925"/>
            <a:ext cx="1714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进度安排</a:t>
            </a:r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5343525" y="5438775"/>
            <a:ext cx="1714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四阶段开发与交付计划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1　选题背景与场景&lt;/Text&gt;&#10;    &lt;Box style={{ flex: 1 }} /&gt;&#10;    &lt;Text style={{ color: '#9DB8E0', fontSize: 15, paddingRight: 44 }}&gt;AI 模拟面试与简历诊断助手 · 开题汇报&lt;/Text&gt;&#10;  &lt;/Box&gt;&#10;  &lt;Box style={{ flex: 1, padding: '34px 44px', flexDirection: 'column' }}&gt;&#10;    &lt;Box style={{ flex: 1, flexDirection: 'row', gap: 28 }}&gt;&#10;      &lt;Box style={{ width: '37%', background: '#F0F5FC', borderRadius: 12, padding: 30, flexDirection: 'column', justifyContent: 'center' }}&gt;&#10;        &lt;Text style={{ fontSize: 26, fontWeight: 'bold', color: '#0E3F8C', marginBottom: 16 }}&gt;为什么做这件事&lt;/Text&gt;&#10;        &lt;Text style={{ fontSize: 22, color: '#1A2230', lineHeight: 1.75 }}&gt;&#10;          2026 届秋招与暑期实习竞争持续升温，&lt;span style={{ color: '#1E4FA8', fontWeight: 'bold' }}&gt;面试表现&lt;/span&gt;已成为决定 offer 的关键变量。然而在校生普遍缺乏&lt;span style={{ color: '#1E4FA8', fontWeight: 'bold' }}&gt;低成本、可高频、有反馈&lt;/span&gt;的模拟渠道，真实面试前练习严重不足。本项目面向典型求职与升学场景，构建一套 AI 驱动的面试与简历辅助系统。&#10;        &lt;/Text&gt;&#10;      &lt;/Box&gt;&#10;      &lt;Box style={{ flex: 1, flexDirection: 'column', gap: 18 }}&gt;&#10;        {[&#10;          { ic: 'briefcase', t: '实习面试', d: '大厂与独角兽暑期实习转正，技术面与行为面并行，准备周期短、节奏快。' },&#10;          { ic: 'building', t: '秋招面试', d: '海量投递后多轮笔试面试接踵而至，时间冲突、复盘困难、信息分散。' },&#10;          { ic: 'graduation-cap', t: '保研面试', d: '科研陈述与专业问答并重，强调学术表达、项目深挖与临场逻辑。' },&#10;        ].map((s, i) =&gt; (&#10;          &lt;Box key={i} style={{ flex: 1, flexDirection: 'row', alignItems: 'center', gap: 20, background: '#FFFFFF', border: '1px solid #D6DCE5', borderRadius: 12, padding: '0 24px' }}&gt;&#10;            &lt;Box style={{ width: 60, height: 60, borderRadius: 14, background: '#E8EFF8', justifyContent: 'center', alignItems: 'center' }}&gt;&#10;              &lt;FAIcon name={s.ic} style={{ fill: '#1E4FA8', width: 30, height: 30 }} /&gt;&#10;            &lt;/Box&gt;&#10;            &lt;Box&gt;&#10;              &lt;Text style={{ fontSize: 26, fontWeight: 'bold', color: '#1A2230' }}&gt;{s.t}&lt;/Text&gt;&#10;              &lt;Text style={{ fontSize: 20, color: '#4A5568', marginTop: 4, lineHeight: 1.5 }}&gt;{s.d}&lt;/Text&gt;&#10;            &lt;/Box&gt;&#10;          &lt;/Box&gt;&#10;        ))}&#10;      &lt;/Box&gt;&#10;    &lt;/Box&gt;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0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矩形 64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矩形 65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628650" y="161925"/>
            <a:ext cx="2647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选题背景与场景</a:t>
            </a:r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69" name="矩形: 圆角 68"/>
          <p:cNvSpPr/>
          <p:nvPr/>
        </p:nvSpPr>
        <p:spPr>
          <a:xfrm>
            <a:off x="419100" y="990600"/>
            <a:ext cx="4200525" cy="5219700"/>
          </a:xfrm>
          <a:prstGeom prst="roundRect">
            <a:avLst>
              <a:gd name="adj" fmla="val 2721"/>
            </a:avLst>
          </a:prstGeom>
          <a:solidFill>
            <a:srgbClr val="F0F5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704850" y="1828800"/>
            <a:ext cx="36290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为什么做这件事</a:t>
            </a:r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704850" y="2286000"/>
            <a:ext cx="3629025" cy="3086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2026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届秋招与暑期实习竞争持续升温，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面试表现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已成为决定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offer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的关键变量。然而在校生普遍缺乏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低成本、可高频、有反馈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的模拟渠道，真实面试前练习严重不足。本项目面向典型求职与升学场景，构建一套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驱动的面试与简历辅助系统。</a:t>
            </a:r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4886325" y="990600"/>
            <a:ext cx="6886575" cy="162877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矩形: 圆角 72"/>
          <p:cNvSpPr/>
          <p:nvPr/>
        </p:nvSpPr>
        <p:spPr>
          <a:xfrm>
            <a:off x="5114925" y="15240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4" name="图形 7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7800" y="1666875"/>
            <a:ext cx="285750" cy="285750"/>
          </a:xfrm>
          <a:prstGeom prst="rect">
            <a:avLst/>
          </a:prstGeom>
          <a:ln/>
        </p:spPr>
      </p:pic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5829300" y="1466850"/>
            <a:ext cx="5715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实习面试</a:t>
            </a:r>
            <a:endParaRPr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829300" y="1809750"/>
            <a:ext cx="57150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大厂与独角兽暑期实习转正，技术面与行为面并行，准备周期短、节奏快。</a:t>
            </a:r>
            <a:endParaRPr/>
          </a:p>
        </p:txBody>
      </p:sp>
      <p:sp>
        <p:nvSpPr>
          <p:cNvPr id="77" name="矩形: 圆角 76"/>
          <p:cNvSpPr/>
          <p:nvPr/>
        </p:nvSpPr>
        <p:spPr>
          <a:xfrm>
            <a:off x="4886325" y="2790825"/>
            <a:ext cx="6886575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5114925" y="33147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9" name="图形 7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3457575"/>
            <a:ext cx="285750" cy="285750"/>
          </a:xfrm>
          <a:prstGeom prst="rect">
            <a:avLst/>
          </a:prstGeom>
          <a:ln/>
        </p:spPr>
      </p:pic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5857875" y="3257550"/>
            <a:ext cx="56864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秋招面试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5857875" y="3600450"/>
            <a:ext cx="5686425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海量投递后多轮笔试面试接踵而至，时间冲突、复盘困难、信息分散。</a:t>
            </a:r>
            <a:endParaRPr/>
          </a:p>
        </p:txBody>
      </p:sp>
      <p:sp>
        <p:nvSpPr>
          <p:cNvPr id="82" name="矩形: 圆角 81"/>
          <p:cNvSpPr/>
          <p:nvPr/>
        </p:nvSpPr>
        <p:spPr>
          <a:xfrm>
            <a:off x="4886325" y="4581525"/>
            <a:ext cx="6886575" cy="162877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矩形: 圆角 82"/>
          <p:cNvSpPr/>
          <p:nvPr/>
        </p:nvSpPr>
        <p:spPr>
          <a:xfrm>
            <a:off x="5114925" y="5114925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4" name="图形 8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7800" y="5257800"/>
            <a:ext cx="285750" cy="285750"/>
          </a:xfrm>
          <a:prstGeom prst="rect">
            <a:avLst/>
          </a:prstGeom>
          <a:ln/>
        </p:spPr>
      </p:pic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5876925" y="5057775"/>
            <a:ext cx="5524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保研面试</a:t>
            </a:r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5876925" y="5400675"/>
            <a:ext cx="5524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科研陈述与专业问答并重，强调学术表达、项目深挖与临场逻辑。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2　需求分析&lt;/Text&gt;&#10;    &lt;Box style={{ flex: 1 }} /&gt;&#10;    &lt;Text style={{ color: '#9DB8E0', fontSize: 15, paddingRight: 44 }}&gt;AI 模拟面试与简历诊断助手 · 开题汇报&lt;/Text&gt;&#10;  &lt;/Box&gt;&#10;  &lt;Box style={{ flex: 1, padding: '34px 44px', flexDirection: 'row', gap: 28 }}&gt;&#10;    &lt;Box style={{ width: '30%', background: '#0E3F8C', borderRadius: 12, padding: 30, flexDirection: 'column', justifyContent: 'center' }}&gt;&#10;      &lt;Text style={{ fontSize: 30, fontWeight: 'bold', color: '#FFFFFF' }}&gt;四类核心诉求&lt;/Text&gt;&#10;      &lt;Box style={{ height: 3, width: 70, background: '#FFC107', margin: '20px 0' }} /&gt;&#10;      &lt;Text style={{ fontSize: 21, color: '#CBD9EF', lineHeight: 1.7 }}&gt;围绕&quot;简历—岗位—面试&quot;闭环，用户最需要被满足的四项能力。&lt;/Text&gt;&#10;    &lt;/Box&gt;&#10;    &lt;Box style={{ flex: 1, flexDirection: 'column', gap: 14 }}&gt;&#10;      {[&#10;        { ic: 'clipboard', t: '岗位 JD 匹配', d: '解析 JD 中的能力关键词与硬性要求，定位简历与岗位的契合度与差距。' },&#10;        { ic: 'edit', t: '简历修改', d: '针对目标岗位给出结构化修改建议与措辞优化，突出亮点、规避空泛。' },&#10;        { ic: 'comment', t: '模拟追问', d: '基于简历与岗位设定面试官角色，进行多轮问答与自适应压力追问。' },&#10;        { ic: 'bolt', t: '即时反馈', d: '实时评分并指出回答中的问题，给出可执行的改进方向，摆脱反馈延迟。' },&#10;      ].map((r, i) =&gt; (&#10;        &lt;Box key={i} style={{ flex: 1, flexDirection: 'row', alignItems: 'center', gap: 18, background: '#F7F9FC', border: '1px solid #E5E7EB', borderRadius: 12, padding: '0 22px' }}&gt;&#10;          &lt;Box style={{ width: 52, height: 52, borderRadius: 12, background: '#1E4FA8', justifyContent: 'center', alignItems: 'center' }}&gt;&#10;            &lt;FAIcon name={r.ic} style={{ fill: '#FFFFFF', width: 26, height: 26 }} /&gt;&#10;          &lt;/Box&gt;&#10;          &lt;Box&gt;&#10;            &lt;Text style={{ fontSize: 25, fontWeight: 'bold', color: '#1A2230' }}&gt;{r.t}&lt;/Text&gt;&#10;            &lt;Text style={{ fontSize: 20, color: '#4A5568', marginTop: 3, lineHeight: 1.45 }}&gt;{r.d}&lt;/Text&gt;&#10;          &lt;/Box&gt;&#10;        &lt;/Box&gt;&#10;      ))}&#10;    &lt;/Box&gt;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0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矩形 90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矩形 91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628650" y="161925"/>
            <a:ext cx="17907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需求分析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95" name="矩形: 圆角 94"/>
          <p:cNvSpPr/>
          <p:nvPr/>
        </p:nvSpPr>
        <p:spPr>
          <a:xfrm>
            <a:off x="419100" y="990600"/>
            <a:ext cx="3409950" cy="5219700"/>
          </a:xfrm>
          <a:prstGeom prst="roundRect">
            <a:avLst>
              <a:gd name="adj" fmla="val 3352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704850" y="2819400"/>
            <a:ext cx="2838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四类核心诉求</a:t>
            </a:r>
            <a:endParaRPr/>
          </a:p>
        </p:txBody>
      </p:sp>
      <p:sp>
        <p:nvSpPr>
          <p:cNvPr id="97" name="矩形 96"/>
          <p:cNvSpPr/>
          <p:nvPr/>
        </p:nvSpPr>
        <p:spPr>
          <a:xfrm>
            <a:off x="704850" y="3352800"/>
            <a:ext cx="66675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704850" y="3571875"/>
            <a:ext cx="28384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575">
                <a:solidFill>
                  <a:srgbClr val="CBD9EF"/>
                </a:solidFill>
                <a:latin typeface="Microsoft YaHei"/>
                <a:ea typeface="Microsoft YaHei"/>
              </a:rPr>
              <a:t>围绕</a:t>
            </a:r>
            <a:r>
              <a:rPr lang="en-US" sz="1575">
                <a:solidFill>
                  <a:srgbClr val="CBD9E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BD9EF"/>
                </a:solidFill>
                <a:latin typeface="Microsoft YaHei"/>
                <a:ea typeface="Microsoft YaHei"/>
              </a:rPr>
              <a:t>简历—岗位—面试</a:t>
            </a:r>
            <a:r>
              <a:rPr lang="en-US" sz="1575">
                <a:solidFill>
                  <a:srgbClr val="CBD9E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BD9EF"/>
                </a:solidFill>
                <a:latin typeface="Microsoft YaHei"/>
                <a:ea typeface="Microsoft YaHei"/>
              </a:rPr>
              <a:t>闭环，用户最需要被满足的四项能力。</a:t>
            </a:r>
            <a:endParaRPr/>
          </a:p>
        </p:txBody>
      </p:sp>
      <p:sp>
        <p:nvSpPr>
          <p:cNvPr id="99" name="矩形: 圆角 98"/>
          <p:cNvSpPr/>
          <p:nvPr/>
        </p:nvSpPr>
        <p:spPr>
          <a:xfrm>
            <a:off x="4095750" y="990600"/>
            <a:ext cx="7677150" cy="1209675"/>
          </a:xfrm>
          <a:prstGeom prst="roundRect">
            <a:avLst>
              <a:gd name="adj" fmla="val 944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矩形: 圆角 99"/>
          <p:cNvSpPr/>
          <p:nvPr/>
        </p:nvSpPr>
        <p:spPr>
          <a:xfrm>
            <a:off x="4305300" y="13525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1" name="图形 10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25" y="1476375"/>
            <a:ext cx="247650" cy="247650"/>
          </a:xfrm>
          <a:prstGeom prst="rect">
            <a:avLst/>
          </a:prstGeom>
          <a:ln/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4972050" y="1276350"/>
            <a:ext cx="6048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岗位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JD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匹配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4972050" y="1590675"/>
            <a:ext cx="60483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解析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JD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中的能力关键词与硬性要求，定位简历与岗位的契合度与差距。</a:t>
            </a:r>
            <a:endParaRPr/>
          </a:p>
        </p:txBody>
      </p:sp>
      <p:sp>
        <p:nvSpPr>
          <p:cNvPr id="104" name="矩形: 圆角 103"/>
          <p:cNvSpPr/>
          <p:nvPr/>
        </p:nvSpPr>
        <p:spPr>
          <a:xfrm>
            <a:off x="4095750" y="2333625"/>
            <a:ext cx="7677150" cy="120015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矩形: 圆角 104"/>
          <p:cNvSpPr/>
          <p:nvPr/>
        </p:nvSpPr>
        <p:spPr>
          <a:xfrm>
            <a:off x="4305300" y="26860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6" name="图形 10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9125" y="2809875"/>
            <a:ext cx="247650" cy="247650"/>
          </a:xfrm>
          <a:prstGeom prst="rect">
            <a:avLst/>
          </a:prstGeom>
          <a:ln/>
        </p:spPr>
      </p:pic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4972050" y="2609850"/>
            <a:ext cx="5905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简历修改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4972050" y="2924175"/>
            <a:ext cx="59055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针对目标岗位给出结构化修改建议与措辞优化，突出亮点、规避空泛。</a:t>
            </a:r>
            <a:endParaRPr/>
          </a:p>
        </p:txBody>
      </p:sp>
      <p:sp>
        <p:nvSpPr>
          <p:cNvPr id="109" name="矩形: 圆角 108"/>
          <p:cNvSpPr/>
          <p:nvPr/>
        </p:nvSpPr>
        <p:spPr>
          <a:xfrm>
            <a:off x="4095750" y="3667125"/>
            <a:ext cx="7677150" cy="1209675"/>
          </a:xfrm>
          <a:prstGeom prst="roundRect">
            <a:avLst>
              <a:gd name="adj" fmla="val 944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矩形: 圆角 109"/>
          <p:cNvSpPr/>
          <p:nvPr/>
        </p:nvSpPr>
        <p:spPr>
          <a:xfrm>
            <a:off x="4305300" y="40290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1" name="图形 11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9125" y="4152900"/>
            <a:ext cx="247650" cy="247650"/>
          </a:xfrm>
          <a:prstGeom prst="rect">
            <a:avLst/>
          </a:prstGeom>
          <a:ln/>
        </p:spPr>
      </p:pic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972050" y="3952875"/>
            <a:ext cx="57150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模拟追问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972050" y="4267200"/>
            <a:ext cx="57150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基于简历与岗位设定面试官角色，进行多轮问答与自适应压力追问。</a:t>
            </a:r>
            <a:endParaRPr/>
          </a:p>
        </p:txBody>
      </p:sp>
      <p:sp>
        <p:nvSpPr>
          <p:cNvPr id="114" name="矩形: 圆角 113"/>
          <p:cNvSpPr/>
          <p:nvPr/>
        </p:nvSpPr>
        <p:spPr>
          <a:xfrm>
            <a:off x="4095750" y="5010150"/>
            <a:ext cx="7677150" cy="120015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矩形: 圆角 114"/>
          <p:cNvSpPr/>
          <p:nvPr/>
        </p:nvSpPr>
        <p:spPr>
          <a:xfrm>
            <a:off x="4305300" y="53625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6" name="图形 115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29125" y="5486400"/>
            <a:ext cx="247650" cy="247650"/>
          </a:xfrm>
          <a:prstGeom prst="rect">
            <a:avLst/>
          </a:prstGeom>
          <a:ln/>
        </p:spPr>
      </p:pic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972050" y="5286375"/>
            <a:ext cx="60960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4972050" y="5600700"/>
            <a:ext cx="60960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实时评分并指出回答中的问题，给出可执行的改进方向，摆脱反馈延迟。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3　现存问题分析&lt;/Text&gt;&#10;    &lt;Box style={{ flex: 1 }} /&gt;&#10;    &lt;Text style={{ color: '#9DB8E0', fontSize: 15, paddingRight: 44 }}&gt;AI 模拟面试与简历诊断助手 · 开题汇报&lt;/Text&gt;&#10;  &lt;/Box&gt;&#10;  &lt;Box style={{ flex: 1, padding: '30px 44px', flexDirection: 'column' }}&gt;&#10;    &lt;Box style={{ flex: 1, flexDirection: 'row', gap: 24 }}&gt;&#10;      {[&#10;        { ic: 'users', t: '真人模拟成本高', d: '依赖学长、导师或培训机构，时间与经济成本高，难以做到高频、反复练习。', tag: '供给稀缺' },&#10;        { ic: 'clock', t: '反馈不及时', d: '人工批改与点评周期长，问题发现往往滞后于练习节奏，错失最佳改进窗口。', tag: '反馈滞后' },&#10;        { ic: 'exclamation-triangle', t: '面试练习不足', d: '缺乏真实问答环境与随机追问，临场易紧张失常，表达与逻辑训练不充分。', tag: '训练缺口' },&#10;      ].map((p, i) =&gt; (&#10;        &lt;Box key={i} style={{ flex: 1, flexDirection: 'column', background: '#F7F9FC', border: '1px solid #E5E7EB', borderRadius: 14, padding: 28 }}&gt;&#10;          &lt;Box style={{ width: 64, height: 64, borderRadius: 16, background: '#E8EFF8', justifyContent: 'center', alignItems: 'center' }}&gt;&#10;            &lt;FAIcon name={p.ic} style={{ fill: '#D9534F', width: 32, height: 32 }} /&gt;&#10;          &lt;/Box&gt;&#10;          &lt;Text style={{ fontSize: 28, fontWeight: 'bold', color: '#1A2230', marginTop: 18 }}&gt;{p.t}&lt;/Text&gt;&#10;          &lt;Text style={{ fontSize: 22, color: '#4A5568', marginTop: 12, lineHeight: 1.6, flex: 1 }}&gt;{p.d}&lt;/Text&gt;&#10;          &lt;Box style={{ alignSelf: 'flex-start', padding: '6px 16px', background: '#0E3F8C', borderRadius: 20 }}&gt;&#10;            &lt;Text style={{ fontSize: 18, color: '#FFFFFF' }}&gt;{p.tag}&lt;/Text&gt;&#10;          &lt;/Box&gt;&#10;        &lt;/Box&gt;&#10;      ))}&#10;    &lt;/Box&gt;&#10;    &lt;Box style={{ marginTop: 22, background: '#0E3F8C', borderRadius: 10, padding: '16px 24px', flexDirection: 'row', alignItems: 'center', gap: 14 }}&gt;&#10;      &lt;FAIcon name='info-circle' style={{ fill: '#FFC107', width: 24, height: 24 }} /&gt;&#10;      &lt;Text style={{ fontSize: 22, color: '#FFFFFF', lineHeight: 1.5 }}&gt;核心矛盾：&lt;span style={{ color: '#FFC107', fontWeight: 'bold' }}&gt;需求高频&lt;/span&gt; 与 &lt;span style={{ color: '#FFC107', fontWeight: 'bold' }}&gt;供给稀缺、反馈滞后&lt;/span&gt; 之间的结构性失衡。&lt;/Text&gt;&#10;    &lt;/Box&gt;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0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3" name="矩形 122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" name="矩形 123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28650" y="161925"/>
            <a:ext cx="2362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现存问题分析</a:t>
            </a:r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127" name="矩形: 圆角 126"/>
          <p:cNvSpPr/>
          <p:nvPr/>
        </p:nvSpPr>
        <p:spPr>
          <a:xfrm>
            <a:off x="419100" y="952500"/>
            <a:ext cx="3629025" cy="4400550"/>
          </a:xfrm>
          <a:prstGeom prst="roundRect">
            <a:avLst>
              <a:gd name="adj" fmla="val 367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矩形: 圆角 127"/>
          <p:cNvSpPr/>
          <p:nvPr/>
        </p:nvSpPr>
        <p:spPr>
          <a:xfrm>
            <a:off x="685800" y="12192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9" name="图形 12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371600"/>
            <a:ext cx="304800" cy="304800"/>
          </a:xfrm>
          <a:prstGeom prst="rect">
            <a:avLst/>
          </a:prstGeom>
          <a:ln/>
        </p:spPr>
      </p:pic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85800" y="2000250"/>
            <a:ext cx="30956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真人模拟成本高</a:t>
            </a:r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85800" y="2438400"/>
            <a:ext cx="3095625" cy="2324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依赖学长、导师或培训机构，时间与经济成本高，难以做到高频、反复练习。</a:t>
            </a:r>
            <a:endParaRPr/>
          </a:p>
        </p:txBody>
      </p:sp>
      <p:sp>
        <p:nvSpPr>
          <p:cNvPr id="132" name="矩形: 圆角 131"/>
          <p:cNvSpPr/>
          <p:nvPr/>
        </p:nvSpPr>
        <p:spPr>
          <a:xfrm>
            <a:off x="685800" y="4762500"/>
            <a:ext cx="990600" cy="323850"/>
          </a:xfrm>
          <a:prstGeom prst="roundRect">
            <a:avLst>
              <a:gd name="adj" fmla="val 58824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838200" y="48196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供给稀缺</a:t>
            </a:r>
            <a:endParaRPr/>
          </a:p>
        </p:txBody>
      </p:sp>
      <p:sp>
        <p:nvSpPr>
          <p:cNvPr id="134" name="矩形: 圆角 133"/>
          <p:cNvSpPr/>
          <p:nvPr/>
        </p:nvSpPr>
        <p:spPr>
          <a:xfrm>
            <a:off x="4276725" y="952500"/>
            <a:ext cx="3638550" cy="4400550"/>
          </a:xfrm>
          <a:prstGeom prst="roundRect">
            <a:avLst>
              <a:gd name="adj" fmla="val 36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矩形: 圆角 134"/>
          <p:cNvSpPr/>
          <p:nvPr/>
        </p:nvSpPr>
        <p:spPr>
          <a:xfrm>
            <a:off x="4543425" y="12192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6" name="图形 13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5825" y="1371600"/>
            <a:ext cx="304800" cy="304800"/>
          </a:xfrm>
          <a:prstGeom prst="rect">
            <a:avLst/>
          </a:prstGeom>
          <a:ln/>
        </p:spPr>
      </p:pic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4543425" y="2000250"/>
            <a:ext cx="31051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反馈不及时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543425" y="2438400"/>
            <a:ext cx="3105150" cy="2324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人工批改与点评周期长，问题发现往往滞后于练习节奏，错失最佳改进窗口。</a:t>
            </a:r>
            <a:endParaRPr/>
          </a:p>
        </p:txBody>
      </p:sp>
      <p:sp>
        <p:nvSpPr>
          <p:cNvPr id="139" name="矩形: 圆角 138"/>
          <p:cNvSpPr/>
          <p:nvPr/>
        </p:nvSpPr>
        <p:spPr>
          <a:xfrm>
            <a:off x="4543425" y="4762500"/>
            <a:ext cx="990600" cy="323850"/>
          </a:xfrm>
          <a:prstGeom prst="roundRect">
            <a:avLst>
              <a:gd name="adj" fmla="val 58824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4695825" y="48196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反馈滞后</a:t>
            </a:r>
            <a:endParaRPr/>
          </a:p>
        </p:txBody>
      </p:sp>
      <p:sp>
        <p:nvSpPr>
          <p:cNvPr id="141" name="矩形: 圆角 140"/>
          <p:cNvSpPr/>
          <p:nvPr/>
        </p:nvSpPr>
        <p:spPr>
          <a:xfrm>
            <a:off x="8143875" y="952500"/>
            <a:ext cx="3629025" cy="4400550"/>
          </a:xfrm>
          <a:prstGeom prst="roundRect">
            <a:avLst>
              <a:gd name="adj" fmla="val 367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" name="矩形: 圆角 141"/>
          <p:cNvSpPr/>
          <p:nvPr/>
        </p:nvSpPr>
        <p:spPr>
          <a:xfrm>
            <a:off x="8410575" y="12192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3" name="图形 14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2975" y="1371600"/>
            <a:ext cx="304800" cy="304800"/>
          </a:xfrm>
          <a:prstGeom prst="rect">
            <a:avLst/>
          </a:prstGeom>
          <a:ln/>
        </p:spPr>
      </p:pic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8410575" y="2000250"/>
            <a:ext cx="30956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面试练习不足</a:t>
            </a:r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8410575" y="2438400"/>
            <a:ext cx="3095625" cy="2324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缺乏真实问答环境与随机追问，临场易紧张失常，表达与逻辑训练不充分。</a:t>
            </a:r>
            <a:endParaRPr/>
          </a:p>
        </p:txBody>
      </p:sp>
      <p:sp>
        <p:nvSpPr>
          <p:cNvPr id="146" name="矩形: 圆角 145"/>
          <p:cNvSpPr/>
          <p:nvPr/>
        </p:nvSpPr>
        <p:spPr>
          <a:xfrm>
            <a:off x="8410575" y="4762500"/>
            <a:ext cx="990600" cy="323850"/>
          </a:xfrm>
          <a:prstGeom prst="roundRect">
            <a:avLst>
              <a:gd name="adj" fmla="val 58824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8562975" y="48196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训练缺口</a:t>
            </a:r>
            <a:endParaRPr/>
          </a:p>
        </p:txBody>
      </p:sp>
      <p:sp>
        <p:nvSpPr>
          <p:cNvPr id="148" name="矩形: 圆角 147"/>
          <p:cNvSpPr/>
          <p:nvPr/>
        </p:nvSpPr>
        <p:spPr>
          <a:xfrm>
            <a:off x="419100" y="5562600"/>
            <a:ext cx="11353800" cy="685800"/>
          </a:xfrm>
          <a:prstGeom prst="roundRect">
            <a:avLst>
              <a:gd name="adj" fmla="val 1388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9" name="图形 148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" y="5791200"/>
            <a:ext cx="228600" cy="228600"/>
          </a:xfrm>
          <a:prstGeom prst="rect">
            <a:avLst/>
          </a:prstGeom>
          <a:ln/>
        </p:spPr>
      </p:pic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009650" y="5715000"/>
            <a:ext cx="60579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核心矛盾：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需求高频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供给稀缺、反馈滞后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之间的结构性失衡。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4　方案设计 · 系统架构&lt;/Text&gt;&#10;    &lt;Box style={{ flex: 1 }} /&gt;&#10;    &lt;Text style={{ color: '#9DB8E0', fontSize: 15, paddingRight: 44 }}&gt;AI 模拟面试与简历诊断助手 · 开题汇报&lt;/Text&gt;&#10;  &lt;/Box&gt;&#10;  &lt;Box style={{ flex: 1, padding: '26px 44px', flexDirection: 'column' }}&gt;&#10;    &lt;Box style={{ flex: 1, flexDirection: 'column', gap: 12 }}&gt;&#10;      {[&#10;        { c: '#0E3F8C', t: '用户交互层', items: ['Web 端', '小程序', '桌面端', '语音对话'] },&#10;        { c: '#1E4FA8', t: '应用功能层', items: ['JD 匹配', '简历诊断', '模拟面试', '即时反馈'] },&#10;        { c: '#3D7BD9', t: '模型能力层', items: ['大模型 LLM', '提示工程', '追问策略', '评估器'] },&#10;        { c: '#5B8FD6', t: '数据知识层', items: ['岗位 JD 库', '面试题库', '评分标准', '简历样本'] },&#10;      ].map((l, i) =&gt; (&#10;        &lt;Box key={i} style={{ flex: 1, flexDirection: 'row', borderRadius: 10, overflow: 'hidden', border: '1px solid #D6DCE5' }}&gt;&#10;          &lt;Box style={{ width: 210, background: l.c, justifyContent: 'center', paddingLeft: 22 }}&gt;&#10;            &lt;Text style={{ fontSize: 24, fontWeight: 'bold', color: '#FFFFFF' }}&gt;{l.t}&lt;/Text&gt;&#10;          &lt;/Box&gt;&#10;          &lt;Box style={{ flex: 1, background: '#F7F9FC', flexDirection: 'row', alignItems: 'center', gap: 12, padding: '0 18px', flexWrap: 'wrap' }}&gt;&#10;            {l.items.map((it, j) =&gt; (&#10;              &lt;Box key={j} style={{ padding: '8px 16px', background: '#FFFFFF', border: '1px solid #D6DCE5', borderRadius: 20 }}&gt;&#10;                &lt;Text style={{ fontSize: 19, color: '#1A2230' }}&gt;{it}&lt;/Text&gt;&#10;              &lt;/Box&gt;&#10;            ))}&#10;          &lt;/Box&gt;&#10;        &lt;/Box&gt;&#10;      ))}&#10;    &lt;/Box&gt;&#10;    &lt;Box style={{ marginTop: 18, background: '#E8EFF8', borderRadius: 10, padding: '14px 22px', flexDirection: 'row', alignItems: 'center', gap: 14 }}&gt;&#10;      &lt;FAIcon name='arrow-up' style={{ fill: '#1E4FA8', width: 22, height: 22 }} /&gt;&#10;      &lt;Text style={{ fontSize: 21, color: '#1A2230', lineHeight: 1.5 }}&gt;数据自底向上流动，能力逐层封装，最终以&quot;对话式&quot;交互交付给求职者。&lt;/Text&gt;&#10;    &lt;/Box&gt;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0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矩形 154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6" name="矩形 155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28650" y="161925"/>
            <a:ext cx="32289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方案设计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159" name="矩形: 圆角 158"/>
          <p:cNvSpPr/>
          <p:nvPr/>
        </p:nvSpPr>
        <p:spPr>
          <a:xfrm>
            <a:off x="419100" y="914400"/>
            <a:ext cx="11353800" cy="1057275"/>
          </a:xfrm>
          <a:prstGeom prst="roundRect">
            <a:avLst>
              <a:gd name="adj" fmla="val 900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任意多边形: 形状 159"/>
          <p:cNvSpPr/>
          <p:nvPr/>
        </p:nvSpPr>
        <p:spPr>
          <a:xfrm>
            <a:off x="419100" y="914400"/>
            <a:ext cx="2000250" cy="1057275"/>
          </a:xfrm>
          <a:custGeom>
            <a:avLst/>
            <a:gdLst/>
            <a:ahLst/>
            <a:cxnLst/>
            <a:rect l="0" t="0" r="0" b="0"/>
            <a:pathLst>
              <a:path w="210" h="111">
                <a:moveTo>
                  <a:pt x="210" y="111"/>
                </a:moveTo>
                <a:lnTo>
                  <a:pt x="10" y="111"/>
                </a:lnTo>
                <a:cubicBezTo>
                  <a:pt x="4" y="111"/>
                  <a:pt x="0" y="107"/>
                  <a:pt x="0" y="101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10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28650" y="1304925"/>
            <a:ext cx="1790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用户交互层</a:t>
            </a:r>
            <a:endParaRPr/>
          </a:p>
        </p:txBody>
      </p:sp>
      <p:sp>
        <p:nvSpPr>
          <p:cNvPr id="162" name="任意多边形: 形状 161"/>
          <p:cNvSpPr/>
          <p:nvPr/>
        </p:nvSpPr>
        <p:spPr>
          <a:xfrm>
            <a:off x="2419350" y="914400"/>
            <a:ext cx="9353550" cy="1057275"/>
          </a:xfrm>
          <a:custGeom>
            <a:avLst/>
            <a:gdLst/>
            <a:ahLst/>
            <a:cxnLst/>
            <a:rect l="0" t="0" r="0" b="0"/>
            <a:pathLst>
              <a:path w="982" h="111">
                <a:moveTo>
                  <a:pt x="972" y="0"/>
                </a:moveTo>
                <a:cubicBezTo>
                  <a:pt x="978" y="0"/>
                  <a:pt x="982" y="5"/>
                  <a:pt x="982" y="10"/>
                </a:cubicBezTo>
                <a:lnTo>
                  <a:pt x="982" y="101"/>
                </a:lnTo>
                <a:cubicBezTo>
                  <a:pt x="982" y="107"/>
                  <a:pt x="978" y="111"/>
                  <a:pt x="972" y="111"/>
                </a:cubicBezTo>
                <a:lnTo>
                  <a:pt x="0" y="111"/>
                </a:lnTo>
                <a:lnTo>
                  <a:pt x="0" y="0"/>
                </a:lnTo>
                <a:lnTo>
                  <a:pt x="972" y="0"/>
                </a:ln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3" name="矩形: 圆角 162"/>
          <p:cNvSpPr/>
          <p:nvPr/>
        </p:nvSpPr>
        <p:spPr>
          <a:xfrm>
            <a:off x="2590800" y="1257300"/>
            <a:ext cx="942975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2743200" y="1333500"/>
            <a:ext cx="638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Web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端</a:t>
            </a:r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3648075" y="1257300"/>
            <a:ext cx="847725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3800475" y="1333500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小程序</a:t>
            </a:r>
            <a:endParaRPr/>
          </a:p>
        </p:txBody>
      </p:sp>
      <p:sp>
        <p:nvSpPr>
          <p:cNvPr id="167" name="矩形: 圆角 166"/>
          <p:cNvSpPr/>
          <p:nvPr/>
        </p:nvSpPr>
        <p:spPr>
          <a:xfrm>
            <a:off x="4610100" y="1257300"/>
            <a:ext cx="847725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4762500" y="1333500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桌面端</a:t>
            </a:r>
            <a:endParaRPr/>
          </a:p>
        </p:txBody>
      </p:sp>
      <p:sp>
        <p:nvSpPr>
          <p:cNvPr id="169" name="矩形: 圆角 168"/>
          <p:cNvSpPr/>
          <p:nvPr/>
        </p:nvSpPr>
        <p:spPr>
          <a:xfrm>
            <a:off x="5572125" y="1257300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5724525" y="13335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语音对话</a:t>
            </a:r>
            <a:endParaRPr/>
          </a:p>
        </p:txBody>
      </p:sp>
      <p:sp>
        <p:nvSpPr>
          <p:cNvPr id="171" name="矩形: 圆角 170"/>
          <p:cNvSpPr/>
          <p:nvPr/>
        </p:nvSpPr>
        <p:spPr>
          <a:xfrm>
            <a:off x="419100" y="2085975"/>
            <a:ext cx="11353800" cy="1057275"/>
          </a:xfrm>
          <a:prstGeom prst="roundRect">
            <a:avLst>
              <a:gd name="adj" fmla="val 900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" name="任意多边形: 形状 171"/>
          <p:cNvSpPr/>
          <p:nvPr/>
        </p:nvSpPr>
        <p:spPr>
          <a:xfrm>
            <a:off x="419100" y="2085975"/>
            <a:ext cx="2000250" cy="1057275"/>
          </a:xfrm>
          <a:custGeom>
            <a:avLst/>
            <a:gdLst/>
            <a:ahLst/>
            <a:cxnLst/>
            <a:rect l="0" t="0" r="0" b="0"/>
            <a:pathLst>
              <a:path w="210" h="111">
                <a:moveTo>
                  <a:pt x="210" y="111"/>
                </a:moveTo>
                <a:lnTo>
                  <a:pt x="10" y="111"/>
                </a:lnTo>
                <a:cubicBezTo>
                  <a:pt x="4" y="111"/>
                  <a:pt x="0" y="107"/>
                  <a:pt x="0" y="101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1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28650" y="2476500"/>
            <a:ext cx="1790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应用功能层</a:t>
            </a:r>
            <a:endParaRPr/>
          </a:p>
        </p:txBody>
      </p:sp>
      <p:sp>
        <p:nvSpPr>
          <p:cNvPr id="174" name="任意多边形: 形状 173"/>
          <p:cNvSpPr/>
          <p:nvPr/>
        </p:nvSpPr>
        <p:spPr>
          <a:xfrm>
            <a:off x="2419350" y="2085975"/>
            <a:ext cx="9353550" cy="1057275"/>
          </a:xfrm>
          <a:custGeom>
            <a:avLst/>
            <a:gdLst/>
            <a:ahLst/>
            <a:cxnLst/>
            <a:rect l="0" t="0" r="0" b="0"/>
            <a:pathLst>
              <a:path w="982" h="111">
                <a:moveTo>
                  <a:pt x="972" y="0"/>
                </a:moveTo>
                <a:cubicBezTo>
                  <a:pt x="978" y="0"/>
                  <a:pt x="982" y="5"/>
                  <a:pt x="982" y="10"/>
                </a:cubicBezTo>
                <a:lnTo>
                  <a:pt x="982" y="101"/>
                </a:lnTo>
                <a:cubicBezTo>
                  <a:pt x="982" y="107"/>
                  <a:pt x="978" y="111"/>
                  <a:pt x="972" y="111"/>
                </a:cubicBezTo>
                <a:lnTo>
                  <a:pt x="0" y="111"/>
                </a:lnTo>
                <a:lnTo>
                  <a:pt x="0" y="0"/>
                </a:lnTo>
                <a:lnTo>
                  <a:pt x="972" y="0"/>
                </a:ln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5" name="矩形: 圆角 174"/>
          <p:cNvSpPr/>
          <p:nvPr/>
        </p:nvSpPr>
        <p:spPr>
          <a:xfrm>
            <a:off x="2590800" y="2428875"/>
            <a:ext cx="93345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2743200" y="2505075"/>
            <a:ext cx="628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JD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匹配</a:t>
            </a:r>
            <a:endParaRPr/>
          </a:p>
        </p:txBody>
      </p:sp>
      <p:sp>
        <p:nvSpPr>
          <p:cNvPr id="177" name="矩形: 圆角 176"/>
          <p:cNvSpPr/>
          <p:nvPr/>
        </p:nvSpPr>
        <p:spPr>
          <a:xfrm>
            <a:off x="3638550" y="2428875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3790950" y="2505075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简历诊断</a:t>
            </a:r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4781550" y="2428875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4933950" y="2505075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模拟面试</a:t>
            </a:r>
            <a:endParaRPr/>
          </a:p>
        </p:txBody>
      </p:sp>
      <p:sp>
        <p:nvSpPr>
          <p:cNvPr id="181" name="矩形: 圆角 180"/>
          <p:cNvSpPr/>
          <p:nvPr/>
        </p:nvSpPr>
        <p:spPr>
          <a:xfrm>
            <a:off x="5924550" y="2428875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6076950" y="2505075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183" name="矩形: 圆角 182"/>
          <p:cNvSpPr/>
          <p:nvPr/>
        </p:nvSpPr>
        <p:spPr>
          <a:xfrm>
            <a:off x="419100" y="3257550"/>
            <a:ext cx="11353800" cy="1057275"/>
          </a:xfrm>
          <a:prstGeom prst="roundRect">
            <a:avLst>
              <a:gd name="adj" fmla="val 900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任意多边形: 形状 183"/>
          <p:cNvSpPr/>
          <p:nvPr/>
        </p:nvSpPr>
        <p:spPr>
          <a:xfrm>
            <a:off x="419100" y="3257550"/>
            <a:ext cx="2000250" cy="1057275"/>
          </a:xfrm>
          <a:custGeom>
            <a:avLst/>
            <a:gdLst/>
            <a:ahLst/>
            <a:cxnLst/>
            <a:rect l="0" t="0" r="0" b="0"/>
            <a:pathLst>
              <a:path w="210" h="111">
                <a:moveTo>
                  <a:pt x="210" y="111"/>
                </a:moveTo>
                <a:lnTo>
                  <a:pt x="10" y="111"/>
                </a:lnTo>
                <a:cubicBezTo>
                  <a:pt x="4" y="111"/>
                  <a:pt x="0" y="107"/>
                  <a:pt x="0" y="101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10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28650" y="3648075"/>
            <a:ext cx="1790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模型能力层</a:t>
            </a:r>
            <a:endParaRPr/>
          </a:p>
        </p:txBody>
      </p:sp>
      <p:sp>
        <p:nvSpPr>
          <p:cNvPr id="186" name="任意多边形: 形状 185"/>
          <p:cNvSpPr/>
          <p:nvPr/>
        </p:nvSpPr>
        <p:spPr>
          <a:xfrm>
            <a:off x="2419350" y="3257550"/>
            <a:ext cx="9353550" cy="1057275"/>
          </a:xfrm>
          <a:custGeom>
            <a:avLst/>
            <a:gdLst/>
            <a:ahLst/>
            <a:cxnLst/>
            <a:rect l="0" t="0" r="0" b="0"/>
            <a:pathLst>
              <a:path w="982" h="111">
                <a:moveTo>
                  <a:pt x="972" y="0"/>
                </a:moveTo>
                <a:cubicBezTo>
                  <a:pt x="978" y="0"/>
                  <a:pt x="982" y="5"/>
                  <a:pt x="982" y="10"/>
                </a:cubicBezTo>
                <a:lnTo>
                  <a:pt x="982" y="101"/>
                </a:lnTo>
                <a:cubicBezTo>
                  <a:pt x="982" y="107"/>
                  <a:pt x="978" y="111"/>
                  <a:pt x="972" y="111"/>
                </a:cubicBezTo>
                <a:lnTo>
                  <a:pt x="0" y="111"/>
                </a:lnTo>
                <a:lnTo>
                  <a:pt x="0" y="0"/>
                </a:lnTo>
                <a:lnTo>
                  <a:pt x="972" y="0"/>
                </a:ln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" name="矩形: 圆角 186"/>
          <p:cNvSpPr/>
          <p:nvPr/>
        </p:nvSpPr>
        <p:spPr>
          <a:xfrm>
            <a:off x="2590800" y="3600450"/>
            <a:ext cx="1266825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2743200" y="3676650"/>
            <a:ext cx="9620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大模型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LLM</a:t>
            </a:r>
            <a:endParaRPr/>
          </a:p>
        </p:txBody>
      </p:sp>
      <p:sp>
        <p:nvSpPr>
          <p:cNvPr id="189" name="矩形: 圆角 188"/>
          <p:cNvSpPr/>
          <p:nvPr/>
        </p:nvSpPr>
        <p:spPr>
          <a:xfrm>
            <a:off x="3971925" y="3600450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4124325" y="367665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提示工程</a:t>
            </a:r>
            <a:endParaRPr/>
          </a:p>
        </p:txBody>
      </p:sp>
      <p:sp>
        <p:nvSpPr>
          <p:cNvPr id="191" name="矩形: 圆角 190"/>
          <p:cNvSpPr/>
          <p:nvPr/>
        </p:nvSpPr>
        <p:spPr>
          <a:xfrm>
            <a:off x="5114925" y="3600450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5267325" y="367665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追问策略</a:t>
            </a:r>
            <a:endParaRPr/>
          </a:p>
        </p:txBody>
      </p:sp>
      <p:sp>
        <p:nvSpPr>
          <p:cNvPr id="193" name="矩形: 圆角 192"/>
          <p:cNvSpPr/>
          <p:nvPr/>
        </p:nvSpPr>
        <p:spPr>
          <a:xfrm>
            <a:off x="6257925" y="3600450"/>
            <a:ext cx="847725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410325" y="3676650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评估器</a:t>
            </a:r>
            <a:endParaRPr/>
          </a:p>
        </p:txBody>
      </p:sp>
      <p:sp>
        <p:nvSpPr>
          <p:cNvPr id="195" name="矩形: 圆角 194"/>
          <p:cNvSpPr/>
          <p:nvPr/>
        </p:nvSpPr>
        <p:spPr>
          <a:xfrm>
            <a:off x="419100" y="4429125"/>
            <a:ext cx="11353800" cy="1057275"/>
          </a:xfrm>
          <a:prstGeom prst="roundRect">
            <a:avLst>
              <a:gd name="adj" fmla="val 900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任意多边形: 形状 195"/>
          <p:cNvSpPr/>
          <p:nvPr/>
        </p:nvSpPr>
        <p:spPr>
          <a:xfrm>
            <a:off x="419100" y="4429125"/>
            <a:ext cx="2000250" cy="1057275"/>
          </a:xfrm>
          <a:custGeom>
            <a:avLst/>
            <a:gdLst/>
            <a:ahLst/>
            <a:cxnLst/>
            <a:rect l="0" t="0" r="0" b="0"/>
            <a:pathLst>
              <a:path w="210" h="111">
                <a:moveTo>
                  <a:pt x="210" y="111"/>
                </a:moveTo>
                <a:lnTo>
                  <a:pt x="10" y="111"/>
                </a:lnTo>
                <a:cubicBezTo>
                  <a:pt x="4" y="111"/>
                  <a:pt x="0" y="107"/>
                  <a:pt x="0" y="101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10" y="0"/>
                </a:lnTo>
                <a:close/>
              </a:path>
            </a:pathLst>
          </a:custGeom>
          <a:solidFill>
            <a:srgbClr val="5B8F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28650" y="4819650"/>
            <a:ext cx="1790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数据知识层</a:t>
            </a:r>
            <a:endParaRPr/>
          </a:p>
        </p:txBody>
      </p:sp>
      <p:sp>
        <p:nvSpPr>
          <p:cNvPr id="198" name="任意多边形: 形状 197"/>
          <p:cNvSpPr/>
          <p:nvPr/>
        </p:nvSpPr>
        <p:spPr>
          <a:xfrm>
            <a:off x="2419350" y="4429125"/>
            <a:ext cx="9353550" cy="1057275"/>
          </a:xfrm>
          <a:custGeom>
            <a:avLst/>
            <a:gdLst/>
            <a:ahLst/>
            <a:cxnLst/>
            <a:rect l="0" t="0" r="0" b="0"/>
            <a:pathLst>
              <a:path w="982" h="111">
                <a:moveTo>
                  <a:pt x="972" y="0"/>
                </a:moveTo>
                <a:cubicBezTo>
                  <a:pt x="978" y="0"/>
                  <a:pt x="982" y="5"/>
                  <a:pt x="982" y="10"/>
                </a:cubicBezTo>
                <a:lnTo>
                  <a:pt x="982" y="101"/>
                </a:lnTo>
                <a:cubicBezTo>
                  <a:pt x="982" y="107"/>
                  <a:pt x="978" y="111"/>
                  <a:pt x="972" y="111"/>
                </a:cubicBezTo>
                <a:lnTo>
                  <a:pt x="0" y="111"/>
                </a:lnTo>
                <a:lnTo>
                  <a:pt x="0" y="0"/>
                </a:lnTo>
                <a:lnTo>
                  <a:pt x="972" y="0"/>
                </a:ln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9" name="矩形: 圆角 198"/>
          <p:cNvSpPr/>
          <p:nvPr/>
        </p:nvSpPr>
        <p:spPr>
          <a:xfrm>
            <a:off x="2590800" y="4772025"/>
            <a:ext cx="1171575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2743200" y="4848225"/>
            <a:ext cx="8667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岗位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JD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库</a:t>
            </a:r>
            <a:endParaRPr/>
          </a:p>
        </p:txBody>
      </p:sp>
      <p:sp>
        <p:nvSpPr>
          <p:cNvPr id="201" name="矩形: 圆角 200"/>
          <p:cNvSpPr/>
          <p:nvPr/>
        </p:nvSpPr>
        <p:spPr>
          <a:xfrm>
            <a:off x="3876675" y="4772025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4029075" y="4848225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面试题库</a:t>
            </a:r>
            <a:endParaRPr/>
          </a:p>
        </p:txBody>
      </p:sp>
      <p:sp>
        <p:nvSpPr>
          <p:cNvPr id="203" name="矩形: 圆角 202"/>
          <p:cNvSpPr/>
          <p:nvPr/>
        </p:nvSpPr>
        <p:spPr>
          <a:xfrm>
            <a:off x="5019675" y="4772025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5172075" y="4848225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评分标准</a:t>
            </a:r>
            <a:endParaRPr/>
          </a:p>
        </p:txBody>
      </p:sp>
      <p:sp>
        <p:nvSpPr>
          <p:cNvPr id="205" name="矩形: 圆角 204"/>
          <p:cNvSpPr/>
          <p:nvPr/>
        </p:nvSpPr>
        <p:spPr>
          <a:xfrm>
            <a:off x="6162675" y="4772025"/>
            <a:ext cx="1028700" cy="371475"/>
          </a:xfrm>
          <a:prstGeom prst="roundRect">
            <a:avLst>
              <a:gd name="adj" fmla="val 512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315075" y="4848225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简历样本</a:t>
            </a:r>
            <a:endParaRPr/>
          </a:p>
        </p:txBody>
      </p:sp>
      <p:sp>
        <p:nvSpPr>
          <p:cNvPr id="207" name="矩形: 圆角 206"/>
          <p:cNvSpPr/>
          <p:nvPr/>
        </p:nvSpPr>
        <p:spPr>
          <a:xfrm>
            <a:off x="419100" y="5657850"/>
            <a:ext cx="11353800" cy="628650"/>
          </a:xfrm>
          <a:prstGeom prst="roundRect">
            <a:avLst>
              <a:gd name="adj" fmla="val 15152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8" name="图形 20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5867400"/>
            <a:ext cx="209550" cy="209550"/>
          </a:xfrm>
          <a:prstGeom prst="rect">
            <a:avLst/>
          </a:prstGeom>
          <a:ln/>
        </p:spPr>
      </p:pic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971550" y="5791200"/>
            <a:ext cx="638175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数据自底向上流动，能力逐层封装，最终以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对话式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交互交付给求职者。</a:t>
            </a:r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4　方案设计 · 核心功能模块&lt;/Text&gt;&#10;    &lt;Box style={{ flex: 1 }} /&gt;&#10;    &lt;Text style={{ color: '#9DB8E0', fontSize: 15, paddingRight: 44 }}&gt;AI 模拟面试与简历诊断助手 · 开题汇报&lt;/Text&gt;&#10;  &lt;/Box&gt;&#10;  &lt;Box style={{ flex: 1, padding: '28px 44px', flexDirection: 'column', gap: 20 }}&gt;&#10;    {[&#10;      [&#10;        { ic: 'search', t: 'JD 解析与匹配', d: '自动抽取 JD 能力项，与简历做语义匹配，输出契合度与差距清单。', tag: '岗位 JD 匹配' },&#10;        { ic: 'edit', t: '简历智能诊断', d: '检查结构、量化、关键词与岗位对齐度，给出可落地的修改建议。', tag: '简历修改' },&#10;      ],&#10;      [&#10;        { ic: 'comments', t: '多轮模拟面试', d: '角色化面试官，按简历与岗位动态追问、施加压力，还原真实考场。', tag: '模拟追问' },&#10;        { ic: 'chart-line', t: '反馈与评估', d: '基于评分量表实时打分，定位薄弱点并给出清晰的改进路径。', tag: '即时反馈' },&#10;      ],&#10;    ].map((row, ri) =&gt; (&#10;      &lt;Box key={ri} style={{ flex: 1, flexDirection: 'row', gap: 20 }}&gt;&#10;        {row.map((m, ci) =&gt; (&#10;          &lt;Box key={ci} style={{ flex: 1, flexDirection: 'column', background: '#F7F9FC', border: '1px solid #E5E7EB', borderRadius: 14, padding: 26 }}&gt;&#10;            &lt;Box style={{ flexDirection: 'row', alignItems: 'center', justifyContent: 'space-between' }}&gt;&#10;              &lt;Box style={{ flexDirection: 'row', alignItems: 'center', gap: 14 }}&gt;&#10;                &lt;Box style={{ width: 50, height: 50, borderRadius: 12, background: '#1E4FA8', justifyContent: 'center', alignItems: 'center' }}&gt;&#10;                  &lt;FAIcon name={m.ic} style={{ fill: '#FFFFFF', width: 26, height: 26 }} /&gt;&#10;                &lt;/Box&gt;&#10;                &lt;Text style={{ fontSize: 26, fontWeight: 'bold', color: '#1A2230' }}&gt;{m.t}&lt;/Text&gt;&#10;              &lt;/Box&gt;&#10;              &lt;Box style={{ padding: '5px 14px', background: '#E8EFF8', borderRadius: 18 }}&gt;&#10;                &lt;Text style={{ fontSize: 17, color: '#1E4FA8', fontWeight: 'bold' }}&gt;{m.tag}&lt;/Text&gt;&#10;              &lt;/Box&gt;&#10;            &lt;/Box&gt;&#10;            &lt;Text style={{ fontSize: 22, color: '#4A5568', marginTop: 16, lineHeight: 1.6, flex: 1 }}&gt;{m.d}&lt;/Text&gt;&#10;          &lt;/Box&gt;&#10;        ))}&#10;      &lt;/Box&gt;&#10;    ))}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0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4" name="矩形 21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5" name="矩形 214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628650" y="161925"/>
            <a:ext cx="38004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方案设计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核心功能模块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218" name="矩形: 圆角 217"/>
          <p:cNvSpPr/>
          <p:nvPr/>
        </p:nvSpPr>
        <p:spPr>
          <a:xfrm>
            <a:off x="419100" y="933450"/>
            <a:ext cx="5581650" cy="257175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矩形: 圆角 218"/>
          <p:cNvSpPr/>
          <p:nvPr/>
        </p:nvSpPr>
        <p:spPr>
          <a:xfrm>
            <a:off x="666750" y="11811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0" name="图形 2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" y="1295400"/>
            <a:ext cx="247650" cy="247650"/>
          </a:xfrm>
          <a:prstGeom prst="rect">
            <a:avLst/>
          </a:prstGeom>
          <a:ln/>
        </p:spPr>
      </p:pic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276350" y="1266825"/>
            <a:ext cx="16287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JD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解析与匹配</a:t>
            </a:r>
            <a:endParaRPr/>
          </a:p>
        </p:txBody>
      </p:sp>
      <p:sp>
        <p:nvSpPr>
          <p:cNvPr id="222" name="矩形: 圆角 221"/>
          <p:cNvSpPr/>
          <p:nvPr/>
        </p:nvSpPr>
        <p:spPr>
          <a:xfrm>
            <a:off x="4533900" y="1276350"/>
            <a:ext cx="1219200" cy="295275"/>
          </a:xfrm>
          <a:prstGeom prst="roundRect">
            <a:avLst>
              <a:gd name="adj" fmla="val 5806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4667250" y="1323975"/>
            <a:ext cx="952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岗位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 JD 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匹配</a:t>
            </a:r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666750" y="1809750"/>
            <a:ext cx="5086350" cy="1447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自动抽取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JD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能力项，与简历做语义匹配，输出契合度与差距清单。</a:t>
            </a:r>
            <a:endParaRPr/>
          </a:p>
        </p:txBody>
      </p:sp>
      <p:sp>
        <p:nvSpPr>
          <p:cNvPr id="225" name="矩形: 圆角 224"/>
          <p:cNvSpPr/>
          <p:nvPr/>
        </p:nvSpPr>
        <p:spPr>
          <a:xfrm>
            <a:off x="6191250" y="933450"/>
            <a:ext cx="5581650" cy="257175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矩形: 圆角 225"/>
          <p:cNvSpPr/>
          <p:nvPr/>
        </p:nvSpPr>
        <p:spPr>
          <a:xfrm>
            <a:off x="6438900" y="11811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7" name="图形 22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1295400"/>
            <a:ext cx="247650" cy="247650"/>
          </a:xfrm>
          <a:prstGeom prst="rect">
            <a:avLst/>
          </a:prstGeom>
          <a:ln/>
        </p:spPr>
      </p:pic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7048500" y="1266825"/>
            <a:ext cx="1485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简历智能诊断</a:t>
            </a:r>
            <a:endParaRPr/>
          </a:p>
        </p:txBody>
      </p:sp>
      <p:sp>
        <p:nvSpPr>
          <p:cNvPr id="229" name="矩形: 圆角 228"/>
          <p:cNvSpPr/>
          <p:nvPr/>
        </p:nvSpPr>
        <p:spPr>
          <a:xfrm>
            <a:off x="10610850" y="1276350"/>
            <a:ext cx="914400" cy="295275"/>
          </a:xfrm>
          <a:prstGeom prst="roundRect">
            <a:avLst>
              <a:gd name="adj" fmla="val 5806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0744200" y="132397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简历修改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438900" y="1809750"/>
            <a:ext cx="5086350" cy="1447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检查结构、量化、关键词与岗位对齐度，给出可落地的修改建议。</a:t>
            </a:r>
            <a:endParaRPr/>
          </a:p>
        </p:txBody>
      </p:sp>
      <p:sp>
        <p:nvSpPr>
          <p:cNvPr id="232" name="矩形: 圆角 231"/>
          <p:cNvSpPr/>
          <p:nvPr/>
        </p:nvSpPr>
        <p:spPr>
          <a:xfrm>
            <a:off x="419100" y="3695700"/>
            <a:ext cx="5581650" cy="257175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矩形: 圆角 232"/>
          <p:cNvSpPr/>
          <p:nvPr/>
        </p:nvSpPr>
        <p:spPr>
          <a:xfrm>
            <a:off x="666750" y="39433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4" name="图形 23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050" y="4057650"/>
            <a:ext cx="247650" cy="247650"/>
          </a:xfrm>
          <a:prstGeom prst="rect">
            <a:avLst/>
          </a:prstGeom>
          <a:ln/>
        </p:spPr>
      </p:pic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1276350" y="4029075"/>
            <a:ext cx="1485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多轮模拟面试</a:t>
            </a:r>
            <a:endParaRPr/>
          </a:p>
        </p:txBody>
      </p:sp>
      <p:sp>
        <p:nvSpPr>
          <p:cNvPr id="236" name="矩形: 圆角 235"/>
          <p:cNvSpPr/>
          <p:nvPr/>
        </p:nvSpPr>
        <p:spPr>
          <a:xfrm>
            <a:off x="4838700" y="4038600"/>
            <a:ext cx="914400" cy="295275"/>
          </a:xfrm>
          <a:prstGeom prst="roundRect">
            <a:avLst>
              <a:gd name="adj" fmla="val 5806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972050" y="408622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模拟追问</a:t>
            </a:r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66750" y="4572000"/>
            <a:ext cx="5086350" cy="1447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角色化面试官，按简历与岗位动态追问、施加压力，还原真实考场。</a:t>
            </a:r>
            <a:endParaRPr/>
          </a:p>
        </p:txBody>
      </p:sp>
      <p:sp>
        <p:nvSpPr>
          <p:cNvPr id="239" name="矩形: 圆角 238"/>
          <p:cNvSpPr/>
          <p:nvPr/>
        </p:nvSpPr>
        <p:spPr>
          <a:xfrm>
            <a:off x="6191250" y="3695700"/>
            <a:ext cx="5581650" cy="257175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矩形: 圆角 239"/>
          <p:cNvSpPr/>
          <p:nvPr/>
        </p:nvSpPr>
        <p:spPr>
          <a:xfrm>
            <a:off x="6438900" y="39433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1" name="图形 240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3200" y="4057650"/>
            <a:ext cx="247650" cy="247650"/>
          </a:xfrm>
          <a:prstGeom prst="rect">
            <a:avLst/>
          </a:prstGeom>
          <a:ln/>
        </p:spPr>
      </p:pic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7048500" y="4029075"/>
            <a:ext cx="12382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反馈与评估</a:t>
            </a:r>
            <a:endParaRPr/>
          </a:p>
        </p:txBody>
      </p:sp>
      <p:sp>
        <p:nvSpPr>
          <p:cNvPr id="243" name="矩形: 圆角 242"/>
          <p:cNvSpPr/>
          <p:nvPr/>
        </p:nvSpPr>
        <p:spPr>
          <a:xfrm>
            <a:off x="10610850" y="4038600"/>
            <a:ext cx="914400" cy="295275"/>
          </a:xfrm>
          <a:prstGeom prst="roundRect">
            <a:avLst>
              <a:gd name="adj" fmla="val 5806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10744200" y="408622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6438900" y="4572000"/>
            <a:ext cx="5086350" cy="1447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基于评分量表实时打分，定位薄弱点并给出清晰的改进路径。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4　方案设计 · 关键技术路线&lt;/Text&gt;&#10;    &lt;Box style={{ flex: 1 }} /&gt;&#10;    &lt;Text style={{ color: '#9DB8E0', fontSize: 15, paddingRight: 44 }}&gt;AI 模拟面试与简历诊断助手 · 开题汇报&lt;/Text&gt;&#10;  &lt;/Box&gt;&#10;  &lt;Box style={{ flex: 1, padding: '40px 44px', flexDirection: 'column' }}&gt;&#10;    &lt;Box style={{ flex: 1, flexDirection: 'row', alignItems: 'stretch', gap: 8 }}&gt;&#10;      {[&#10;        { n: '1', t: '知识库构建', d: '采集岗位 JD、面试题库与评分标准，形成结构化知识底座。' },&#10;        { n: '2', t: '大模型 + 提示工程', d: '接入 LLM，设计面试官角色设定与自适应追问策略提示。' },&#10;        { n: '3', t: '多轮对话引擎', d: '维护上下文与追问链，实现自然、连贯的面试交互。' },&#10;        { n: '4', t: '自动评分与反馈', d: '依据 rubric 实时评分，生成诊断报告与改进建议。' },&#10;      ].map((s, i) =&gt; (&#10;        &lt;Box key={i} style={{ flex: 1, flexDirection: 'row', alignItems: 'center' }}&gt;&#10;          &lt;Box style={{ flex: 1, flexDirection: 'column', alignItems: 'center', background: '#F7F9FC', border: '1px solid #E5E7EB', borderRadius: 14, padding: '26px 20px' }}&gt;&#10;            &lt;Box style={{ width: 58, height: 58, borderRadius: 29, background: '#0E3F8C', justifyContent: 'center', alignItems: 'center' }}&gt;&#10;              &lt;Text style={{ fontSize: 28, fontWeight: 'bold', color: '#FFFFFF' }}&gt;{s.n}&lt;/Text&gt;&#10;            &lt;/Box&gt;&#10;            &lt;Text style={{ fontSize: 24, fontWeight: 'bold', color: '#1A2230', marginTop: 16, textAlign: 'center' }}&gt;{s.t}&lt;/Text&gt;&#10;            &lt;Text style={{ fontSize: 20, color: '#4A5568', marginTop: 12, lineHeight: 1.55, textAlign: 'center', flex: 1 }}&gt;{s.d}&lt;/Text&gt;&#10;          &lt;/Box&gt;&#10;          {i &lt; 3 &amp;&amp; &lt;Box style={{ padding: '0 6px', justifyContent: 'center' }}&gt;&lt;FAIcon name='chevron-right' style={{ fill: '#3D7BD9', width: 26, height: 26 }} /&gt;&lt;/Box&gt;}&#10;        &lt;/Box&gt;&#10;      ))}&#10;    &lt;/Box&gt;&#10;    &lt;Box style={{ marginTop: 18, background: '#E8EFF8', borderRadius: 10, padding: '14px 22px', flexDirection: 'row', alignItems: 'center', gap: 14 }}&gt;&#10;      &lt;FAIcon name='sync' style={{ fill: '#1E4FA8', width: 22, height: 22 }} /&gt;&#10;      &lt;Text style={{ fontSize: 21, color: '#1A2230', lineHeight: 1.5 }}&gt;以&quot;用户测试 — 人工校准 — 模型迭代&quot;形成持续优化的闭环。&lt;/Text&gt;&#10;    &lt;/Box&gt;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0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 2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0" name="矩形 249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1" name="矩形 250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628650" y="161925"/>
            <a:ext cx="38004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方案设计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关键技术路线</a:t>
            </a:r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254" name="矩形: 圆角 253"/>
          <p:cNvSpPr/>
          <p:nvPr/>
        </p:nvSpPr>
        <p:spPr>
          <a:xfrm>
            <a:off x="419100" y="1876425"/>
            <a:ext cx="2419350" cy="2657475"/>
          </a:xfrm>
          <a:prstGeom prst="roundRect">
            <a:avLst>
              <a:gd name="adj" fmla="val 551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矩形: 圆角 254"/>
          <p:cNvSpPr/>
          <p:nvPr/>
        </p:nvSpPr>
        <p:spPr>
          <a:xfrm>
            <a:off x="1352550" y="2124075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543050" y="2238375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1057275" y="2828925"/>
            <a:ext cx="1143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知识库构建</a:t>
            </a:r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609600" y="3219450"/>
            <a:ext cx="2038350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采集岗位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JD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、面试题库与评分标准，形成结构化知识底座。</a:t>
            </a:r>
            <a:endParaRPr/>
          </a:p>
        </p:txBody>
      </p:sp>
      <p:pic>
        <p:nvPicPr>
          <p:cNvPr id="259" name="图形 25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5600" y="3076575"/>
            <a:ext cx="247650" cy="247650"/>
          </a:xfrm>
          <a:prstGeom prst="rect">
            <a:avLst/>
          </a:prstGeom>
          <a:ln/>
        </p:spPr>
      </p:pic>
      <p:sp>
        <p:nvSpPr>
          <p:cNvPr id="260" name="矩形: 圆角 259"/>
          <p:cNvSpPr/>
          <p:nvPr/>
        </p:nvSpPr>
        <p:spPr>
          <a:xfrm>
            <a:off x="3276600" y="1876425"/>
            <a:ext cx="2419350" cy="2657475"/>
          </a:xfrm>
          <a:prstGeom prst="roundRect">
            <a:avLst>
              <a:gd name="adj" fmla="val 551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矩形: 圆角 260"/>
          <p:cNvSpPr/>
          <p:nvPr/>
        </p:nvSpPr>
        <p:spPr>
          <a:xfrm>
            <a:off x="4210050" y="2124075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4400550" y="2238375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3533775" y="2828925"/>
            <a:ext cx="19145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大模型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提示工程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3467100" y="3219450"/>
            <a:ext cx="2038350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接入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LLM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，设计面试官角色设定与自适应追问策略提示。</a:t>
            </a:r>
            <a:endParaRPr/>
          </a:p>
        </p:txBody>
      </p:sp>
      <p:pic>
        <p:nvPicPr>
          <p:cNvPr id="265" name="图形 26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3100" y="3076575"/>
            <a:ext cx="247650" cy="247650"/>
          </a:xfrm>
          <a:prstGeom prst="rect">
            <a:avLst/>
          </a:prstGeom>
          <a:ln/>
        </p:spPr>
      </p:pic>
      <p:sp>
        <p:nvSpPr>
          <p:cNvPr id="266" name="矩形: 圆角 265"/>
          <p:cNvSpPr/>
          <p:nvPr/>
        </p:nvSpPr>
        <p:spPr>
          <a:xfrm>
            <a:off x="6134100" y="2047875"/>
            <a:ext cx="2419350" cy="2305050"/>
          </a:xfrm>
          <a:prstGeom prst="roundRect">
            <a:avLst>
              <a:gd name="adj" fmla="val 57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矩形: 圆角 266"/>
          <p:cNvSpPr/>
          <p:nvPr/>
        </p:nvSpPr>
        <p:spPr>
          <a:xfrm>
            <a:off x="7067550" y="2295525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258050" y="2409825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657975" y="3000375"/>
            <a:ext cx="1371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多轮对话引擎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324600" y="3390900"/>
            <a:ext cx="2038350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维护上下文与追问链，实现自然、连贯的面试交互。</a:t>
            </a:r>
            <a:endParaRPr/>
          </a:p>
        </p:txBody>
      </p:sp>
      <p:pic>
        <p:nvPicPr>
          <p:cNvPr id="271" name="图形 27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0600" y="3076575"/>
            <a:ext cx="247650" cy="247650"/>
          </a:xfrm>
          <a:prstGeom prst="rect">
            <a:avLst/>
          </a:prstGeom>
          <a:ln/>
        </p:spPr>
      </p:pic>
      <p:sp>
        <p:nvSpPr>
          <p:cNvPr id="272" name="矩形: 圆角 271"/>
          <p:cNvSpPr/>
          <p:nvPr/>
        </p:nvSpPr>
        <p:spPr>
          <a:xfrm>
            <a:off x="8991600" y="2047875"/>
            <a:ext cx="2781300" cy="2305050"/>
          </a:xfrm>
          <a:prstGeom prst="roundRect">
            <a:avLst>
              <a:gd name="adj" fmla="val 57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3" name="矩形: 圆角 272"/>
          <p:cNvSpPr/>
          <p:nvPr/>
        </p:nvSpPr>
        <p:spPr>
          <a:xfrm>
            <a:off x="10106025" y="2295525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0296525" y="2409825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9582150" y="3000375"/>
            <a:ext cx="1600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自动评分与反馈</a:t>
            </a:r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9182100" y="3390900"/>
            <a:ext cx="24003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依据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rubric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实时评分，生成诊断报告与改进建议。</a:t>
            </a:r>
            <a:endParaRPr/>
          </a:p>
        </p:txBody>
      </p:sp>
      <p:sp>
        <p:nvSpPr>
          <p:cNvPr id="277" name="矩形: 圆角 276"/>
          <p:cNvSpPr/>
          <p:nvPr/>
        </p:nvSpPr>
        <p:spPr>
          <a:xfrm>
            <a:off x="419100" y="5524500"/>
            <a:ext cx="11353800" cy="628650"/>
          </a:xfrm>
          <a:prstGeom prst="roundRect">
            <a:avLst>
              <a:gd name="adj" fmla="val 15152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8" name="图形 27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" y="5734050"/>
            <a:ext cx="209550" cy="209550"/>
          </a:xfrm>
          <a:prstGeom prst="rect">
            <a:avLst/>
          </a:prstGeom>
          <a:ln/>
        </p:spPr>
      </p:pic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971550" y="5657850"/>
            <a:ext cx="54483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以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用户测试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—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人工校准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—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模型迭代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形成持续优化的闭环。</a:t>
            </a:r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5　创新点与预期成果&lt;/Text&gt;&#10;    &lt;Box style={{ flex: 1 }} /&gt;&#10;    &lt;Text style={{ color: '#9DB8E0', fontSize: 15, paddingRight: 44 }}&gt;AI 模拟面试与简历诊断助手 · 开题汇报&lt;/Text&gt;&#10;  &lt;/Box&gt;&#10;  &lt;Box style={{ flex: 1, padding: '30px 44px', flexDirection: 'row', gap: 28 }}&gt;&#10;    &lt;Box style={{ width: '40%', background: '#0E3F8C', borderRadius: 14, padding: '28px 30px', flexDirection: 'column', justifyContent: 'space-between' }}&gt;&#10;      &lt;Text style={{ fontSize: 24, fontWeight: 'bold', color: '#9DB8E0', letterSpacing: 2 }}&gt;预期成果（量化目标）&lt;/Text&gt;&#10;      {[&#10;        { num: '3', unit: '类', label: '面试场景全覆盖（实习 / 秋招 / 保研）' },&#10;        { num: '&lt;3', unit: 's', label: '即时反馈时延，告别等待' },&#10;        { num: '7×24', unit: '', label: '随时可练、可高频、可个性化' },&#10;      ].map((k, i) =&gt; (&#10;        &lt;Box key={i} style={{ flexDirection: 'row', alignItems: 'baseline', gap: 12 }}&gt;&#10;          &lt;Text style={{ fontSize: 64, fontWeight: 'bold', color: '#FFFFFF' }}&gt;{k.num}&lt;span style={{ fontSize: 30, color: '#FFC107' }}&gt;{k.unit}&lt;/span&gt;&lt;/Text&gt;&#10;          &lt;Text style={{ fontSize: 19, color: '#CBD9EF', flex: 1, lineHeight: 1.4 }}&gt;{k.label}&lt;/Text&gt;&#10;        &lt;/Box&gt;&#10;      ))}&#10;    &lt;/Box&gt;&#10;    &lt;Box style={{ flex: 1, flexDirection: 'column', gap: 16 }}&gt;&#10;      &lt;Text style={{ fontSize: 24, fontWeight: 'bold', color: '#0E3F8C' }}&gt;核心创新点&lt;/Text&gt;&#10;      {[&#10;        { ic: 'user-secret', t: '情境化角色扮演 + 自适应追问', d: '按岗位与简历动态生成面试官人格与追问链。' },&#10;        { ic: 'tasks', t: '基于 rubric 的多维即时评分', d: '对齐评分量表，给出结构化、可解释的评价。' },&#10;        { ic: 'project-diagram', t: '简历—岗位差距可视化', d: '将契合度与差距以清单与图谱形式呈现。' },&#10;        { ic: 'infinity', t: '低门槛 · 个性化 · 可高频', d: '零预约、随时开练，贴合个人背景持续进化。' },&#10;      ].map((v, i) =&gt; (&#10;        &lt;Box key={i} style={{ flex: 1, flexDirection: 'row', alignItems: 'center', gap: 16, background: '#F7F9FC', border: '1px solid #E5E7EB', borderRadius: 12, padding: '0 20px' }}&gt;&#10;          &lt;Box style={{ width: 48, height: 48, borderRadius: 12, background: '#E8EFF8', justifyContent: 'center', alignItems: 'center' }}&gt;&#10;            &lt;FAIcon name={v.ic} style={{ fill: '#1E4FA8', width: 24, height: 24 }} /&gt;&#10;          &lt;/Box&gt;&#10;          &lt;Box&gt;&#10;            &lt;Text style={{ fontSize: 23, fontWeight: 'bold', color: '#1A2230' }}&gt;{v.t}&lt;/Text&gt;&#10;            &lt;Text style={{ fontSize: 19, color: '#4A5568', marginTop: 2, lineHeight: 1.4 }}&gt;{v.d}&lt;/Text&gt;&#10;          &lt;/Box&gt;&#10;        &lt;/Box&gt;&#10;      ))}&#10;    &lt;/Box&gt;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0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矩形 2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4" name="矩形 28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矩形 284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628650" y="161925"/>
            <a:ext cx="29337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创新点与预期成果</a:t>
            </a:r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sp>
        <p:nvSpPr>
          <p:cNvPr id="288" name="矩形: 圆角 287"/>
          <p:cNvSpPr/>
          <p:nvPr/>
        </p:nvSpPr>
        <p:spPr>
          <a:xfrm>
            <a:off x="419100" y="952500"/>
            <a:ext cx="4543425" cy="5295900"/>
          </a:xfrm>
          <a:prstGeom prst="roundRect">
            <a:avLst>
              <a:gd name="adj" fmla="val 2935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04850" y="1219200"/>
            <a:ext cx="3971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 spc="150">
                <a:solidFill>
                  <a:srgbClr val="9DB8E0"/>
                </a:solidFill>
                <a:latin typeface="Microsoft YaHei"/>
                <a:ea typeface="Microsoft YaHei"/>
              </a:rPr>
              <a:t>预期成果（量化目标）</a:t>
            </a:r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04850" y="2257425"/>
            <a:ext cx="666750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r>
              <a:rPr lang="zh-CN" sz="2250" b="1">
                <a:solidFill>
                  <a:srgbClr val="FFC107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1485900" y="2257425"/>
            <a:ext cx="31908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CBD9EF"/>
                </a:solidFill>
                <a:latin typeface="Microsoft YaHei"/>
                <a:ea typeface="Microsoft YaHei"/>
              </a:rPr>
              <a:t>面试场景全覆盖（实习</a:t>
            </a:r>
            <a:r>
              <a:rPr lang="en-US" sz="1425">
                <a:solidFill>
                  <a:srgbClr val="CBD9EF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CBD9EF"/>
                </a:solidFill>
                <a:latin typeface="Microsoft YaHei"/>
                <a:ea typeface="Microsoft YaHei"/>
              </a:rPr>
              <a:t>秋招</a:t>
            </a:r>
            <a:r>
              <a:rPr lang="en-US" sz="1425">
                <a:solidFill>
                  <a:srgbClr val="CBD9EF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CBD9EF"/>
                </a:solidFill>
                <a:latin typeface="Microsoft YaHei"/>
                <a:ea typeface="Microsoft YaHei"/>
              </a:rPr>
              <a:t>保研）</a:t>
            </a:r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04850" y="3752850"/>
            <a:ext cx="9810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&lt;3</a:t>
            </a:r>
            <a:r>
              <a:rPr lang="en-US" sz="2250" b="1">
                <a:solidFill>
                  <a:srgbClr val="FFC107"/>
                </a:solidFill>
                <a:latin typeface="Microsoft YaHei"/>
                <a:ea typeface="Microsoft YaHei"/>
              </a:rPr>
              <a:t>s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800225" y="3752850"/>
            <a:ext cx="2876550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CBD9EF"/>
                </a:solidFill>
                <a:latin typeface="Microsoft YaHei"/>
                <a:ea typeface="Microsoft YaHei"/>
              </a:rPr>
              <a:t>即时反馈时延，告别等待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704850" y="5248275"/>
            <a:ext cx="1600200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7×24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2419350" y="5248275"/>
            <a:ext cx="225742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CBD9EF"/>
                </a:solidFill>
                <a:latin typeface="Microsoft YaHei"/>
                <a:ea typeface="Microsoft YaHei"/>
              </a:rPr>
              <a:t>随时可练、可高频、可个性化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5229225" y="952500"/>
            <a:ext cx="65436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核心创新点</a:t>
            </a:r>
            <a:endParaRPr/>
          </a:p>
        </p:txBody>
      </p:sp>
      <p:sp>
        <p:nvSpPr>
          <p:cNvPr id="297" name="矩形: 圆角 296"/>
          <p:cNvSpPr/>
          <p:nvPr/>
        </p:nvSpPr>
        <p:spPr>
          <a:xfrm>
            <a:off x="5229225" y="1381125"/>
            <a:ext cx="6543675" cy="1104900"/>
          </a:xfrm>
          <a:prstGeom prst="roundRect">
            <a:avLst>
              <a:gd name="adj" fmla="val 1034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矩形: 圆角 297"/>
          <p:cNvSpPr/>
          <p:nvPr/>
        </p:nvSpPr>
        <p:spPr>
          <a:xfrm>
            <a:off x="5419725" y="17049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9" name="图形 29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4025" y="1819275"/>
            <a:ext cx="228600" cy="228600"/>
          </a:xfrm>
          <a:prstGeom prst="rect">
            <a:avLst/>
          </a:prstGeom>
          <a:ln/>
        </p:spPr>
      </p:pic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6029325" y="1638300"/>
            <a:ext cx="3619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情境化角色扮演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自适应追问</a:t>
            </a:r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6029325" y="1924050"/>
            <a:ext cx="3619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按岗位与简历动态生成面试官人格与追问链。</a:t>
            </a:r>
            <a:endParaRPr/>
          </a:p>
        </p:txBody>
      </p:sp>
      <p:sp>
        <p:nvSpPr>
          <p:cNvPr id="302" name="矩形: 圆角 301"/>
          <p:cNvSpPr/>
          <p:nvPr/>
        </p:nvSpPr>
        <p:spPr>
          <a:xfrm>
            <a:off x="5229225" y="2638425"/>
            <a:ext cx="6543675" cy="1104900"/>
          </a:xfrm>
          <a:prstGeom prst="roundRect">
            <a:avLst>
              <a:gd name="adj" fmla="val 1034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3" name="矩形: 圆角 302"/>
          <p:cNvSpPr/>
          <p:nvPr/>
        </p:nvSpPr>
        <p:spPr>
          <a:xfrm>
            <a:off x="5419725" y="29622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4" name="图形 30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4025" y="3076575"/>
            <a:ext cx="228600" cy="228600"/>
          </a:xfrm>
          <a:prstGeom prst="rect">
            <a:avLst/>
          </a:prstGeom>
          <a:ln/>
        </p:spPr>
      </p:pic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6029325" y="2895600"/>
            <a:ext cx="3619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基于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rubric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的多维即时评分</a:t>
            </a:r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6029325" y="3181350"/>
            <a:ext cx="3619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对齐评分量表，给出结构化、可解释的评价。</a:t>
            </a:r>
            <a:endParaRPr/>
          </a:p>
        </p:txBody>
      </p:sp>
      <p:sp>
        <p:nvSpPr>
          <p:cNvPr id="307" name="矩形: 圆角 306"/>
          <p:cNvSpPr/>
          <p:nvPr/>
        </p:nvSpPr>
        <p:spPr>
          <a:xfrm>
            <a:off x="5229225" y="3895725"/>
            <a:ext cx="6543675" cy="1095375"/>
          </a:xfrm>
          <a:prstGeom prst="roundRect">
            <a:avLst>
              <a:gd name="adj" fmla="val 1043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8" name="矩形: 圆角 307"/>
          <p:cNvSpPr/>
          <p:nvPr/>
        </p:nvSpPr>
        <p:spPr>
          <a:xfrm>
            <a:off x="5419725" y="42195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9" name="图形 30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4025" y="4333875"/>
            <a:ext cx="228600" cy="228600"/>
          </a:xfrm>
          <a:prstGeom prst="rect">
            <a:avLst/>
          </a:prstGeom>
          <a:ln/>
        </p:spPr>
      </p:pic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029325" y="4152900"/>
            <a:ext cx="32575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简历—岗位差距可视化</a:t>
            </a:r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029325" y="4438650"/>
            <a:ext cx="3257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将契合度与差距以清单与图谱形式呈现。</a:t>
            </a:r>
            <a:endParaRPr/>
          </a:p>
        </p:txBody>
      </p:sp>
      <p:sp>
        <p:nvSpPr>
          <p:cNvPr id="312" name="矩形: 圆角 311"/>
          <p:cNvSpPr/>
          <p:nvPr/>
        </p:nvSpPr>
        <p:spPr>
          <a:xfrm>
            <a:off x="5229225" y="5143500"/>
            <a:ext cx="6543675" cy="1104900"/>
          </a:xfrm>
          <a:prstGeom prst="roundRect">
            <a:avLst>
              <a:gd name="adj" fmla="val 1034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3" name="矩形: 圆角 312"/>
          <p:cNvSpPr/>
          <p:nvPr/>
        </p:nvSpPr>
        <p:spPr>
          <a:xfrm>
            <a:off x="5419725" y="54673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4" name="图形 31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34025" y="5581650"/>
            <a:ext cx="228600" cy="228600"/>
          </a:xfrm>
          <a:prstGeom prst="rect">
            <a:avLst/>
          </a:prstGeom>
          <a:ln/>
        </p:spPr>
      </p:pic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6029325" y="5400675"/>
            <a:ext cx="3619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低门槛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个性化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可高频</a:t>
            </a:r>
            <a:endParaRPr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6029325" y="5686425"/>
            <a:ext cx="3619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零预约、随时开练，贴合个人背景持续进化。</a:t>
            </a:r>
            <a:endParaRPr/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flexDirection: 'column' }}&gt;&#10;  &lt;Box style={{ height: 70, background: '#0E3F8C', flexDirection: 'row', alignItems: 'center', paddingLeft: 44 }}&gt;&#10;    &lt;Box style={{ width: 6, height: 34, background: '#FFC107', marginRight: 16 }} /&gt;&#10;    &lt;Text style={{ color: '#FFFFFF', fontSize: 30, fontWeight: 'bold' }}&gt;06　进度安排&lt;/Text&gt;&#10;    &lt;Box style={{ flex: 1 }} /&gt;&#10;    &lt;Text style={{ color: '#9DB8E0', fontSize: 15, paddingRight: 44 }}&gt;AI 模拟面试与简历诊断助手 · 开题汇报&lt;/Text&gt;&#10;  &lt;/Box&gt;&#10;  &lt;Box style={{ flex: 1, padding: '30px 44px', flexDirection: 'column' }}&gt;&#10;    &lt;Box style={{ flex: 1, flexDirection: 'column' }}&gt;&#10;      &lt;Table&#10;        style={{ width: '100%', height: '100%' }}&#10;        defaultTextStyle={{ fontSize: 20, textAlign: 'center', color: '#1A2230' }}&#10;        defaultCellStyle={{&#10;          border: {&#10;            left: { width: 1, color: '#D6DCE5' },&#10;            right: { width: 1, color: '#D6DCE5' },&#10;            top: { width: 1, color: '#D6DCE5' },&#10;            bottom: { width: 1, color: '#D6DCE5' },&#10;          },&#10;        }}&#10;        cells={[&#10;          [&#10;            { text: '阶段', textStyle: { bold: true, color: '#FFFFFF', fontSize: 21 }, cellStyle: { background: { color: '#0E3F8C' } } },&#10;            { text: '时间', textStyle: { bold: true, color: '#FFFFFF', fontSize: 21 }, cellStyle: { background: { color: '#0E3F8C' } } },&#10;            { text: '主要任务', textStyle: { bold: true, color: '#FFFFFF', fontSize: 21 }, cellStyle: { background: { color: '#0E3F8C' } } },&#10;            { text: '交付物', textStyle: { bold: true, color: '#FFFFFF', fontSize: 21 }, cellStyle: { background: { color: '#0E3F8C' } } },&#10;          ],&#10;          [&#10;            { text: '需求与调研', textStyle: { bold: true, color: '#1E4FA8' } },&#10;            '10 月',&#10;            '场景调研、竞品分析、需求与方案确认',&#10;            '需求与方案文档',&#10;          ],&#10;          [&#10;            { text: '原型开发', textStyle: { bold: true, color: '#1E4FA8' }, cellStyle: { background: { color: '#F7F9FC' } } },&#10;            { text: '11 月', cellStyle: { background: { color: '#F7F9FC' } } },&#10;            { text: '系统架构、知识库构建、核心对话流程', cellStyle: { background: { color: '#F7F9FC' } } },&#10;            { text: '可运行原型', cellStyle: { background: { color: '#F7F9FC' } } },&#10;          ],&#10;          [&#10;            { text: '功能完善', textStyle: { bold: true, color: '#1E4FA8' } },&#10;            '12 月',&#10;            '评分反馈、简历诊断增强、交互与 UI 打磨',&#10;            '内测版本',&#10;          ],&#10;          [&#10;            { text: '测试验收', textStyle: { bold: true, color: '#1E4FA8' }, cellStyle: { background: { color: '#F7F9FC' } } },&#10;            { text: '次年 1 月', cellStyle: { background: { color: '#F7F9FC' } } },&#10;            { text: '用户测试、效果校准、迭代优化', cellStyle: { background: { color: '#F7F9FC' } } },&#10;            { text: '终版与结题报告', cellStyle: { background: { color: '#F7F9FC' } } },&#10;          ],&#10;        ]}&#10;      /&gt;&#10;    &lt;/Box&gt;&#10;    &lt;Box style={{ marginTop: 18, background: '#E8EFF8', borderRadius: 10, padding: '14px 22px', flexDirection: 'row', alignItems: 'center', gap: 14 }}&gt;&#10;      &lt;FAIcon name='flag-checkered' style={{ fill: '#1E4FA8', width: 22, height: 22 }} /&gt;&#10;      &lt;Text style={{ fontSize: 21, color: '#1A2230', lineHeight: 1.5 }}&gt;总体周期约 4 个月，每阶段设置里程碑评审，确保按期高质量交付。&lt;/Text&gt;&#10;    &lt;/Box&gt;&#10;  &lt;/Box&gt;&#10;  &lt;Box style={{ height: 34, flexDirection: 'row', alignItems: 'center', paddingLeft: 44, paddingRight: 44, justifyContent: 'space-between' }}&gt;&#10;    &lt;Text style={{ fontSize: 13, color: '#8B97A8' }}&gt;AI 模拟面试与简历诊断助手&lt;/Text&gt;&#10;    &lt;Text style={{ fontSize: 14, color: '#1E4FA8', fontWeight: 'bold' }}&gt;10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矩形 1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矩形 14"/>
          <p:cNvSpPr/>
          <p:nvPr/>
        </p:nvSpPr>
        <p:spPr>
          <a:xfrm>
            <a:off x="419100" y="1714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628650" y="161925"/>
            <a:ext cx="17907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　进度安排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9324975" y="247650"/>
            <a:ext cx="2867025" cy="171450"/>
          </a:xfrm>
          <a:prstGeom prst="rect">
            <a:avLst/>
          </a:prstGeom>
        </p:spPr>
        <p:txBody>
          <a:bodyPr wrap="none" lIns="0" tIns="0" rIns="314325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r>
              <a:rPr lang="en-US" sz="1125">
                <a:solidFill>
                  <a:srgbClr val="9DB8E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DB8E0"/>
                </a:solidFill>
                <a:latin typeface="Microsoft YaHei"/>
                <a:ea typeface="Microsoft YaHei"/>
              </a:rPr>
              <a:t>开题汇报</a:t>
            </a:r>
            <a:endParaRPr/>
          </a:p>
        </p:txBody>
      </p:sp>
      <p:graphicFrame>
        <p:nvGraphicFramePr>
          <p:cNvPr id="18" name="表格 17"/>
          <p:cNvGraphicFramePr/>
          <p:nvPr/>
        </p:nvGraphicFramePr>
        <p:xfrm>
          <a:off x="419100" y="952500"/>
          <a:ext cx="11353799" cy="4495801"/>
        </p:xfrm>
        <a:graphic>
          <a:graphicData uri="http://schemas.openxmlformats.org/drawingml/2006/table">
            <a:tbl>
              <a:tblPr/>
              <a:tblGrid>
                <a:gridCol w="1692108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445085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90694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309666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93604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主要任务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交付物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8993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需求与调研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 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场景调研、竞品分析、需求与方案确认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需求与方案文档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8993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原型开发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11 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系统架构、知识库构建、核心对话流程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可运行原型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8993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功能完善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 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评分反馈、简历诊断增强、交互与</a:t>
                      </a:r>
                      <a:r>
                        <a:rPr sz="1500" dirty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 UI </a:t>
                      </a:r>
                      <a:r>
                        <a:rPr sz="1500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打磨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内测版本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8993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测试验收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次年 1 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用户测试、效果校准、迭代优化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终版与结题报告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19" name="矩形: 圆角 18"/>
          <p:cNvSpPr/>
          <p:nvPr/>
        </p:nvSpPr>
        <p:spPr>
          <a:xfrm>
            <a:off x="419100" y="5619750"/>
            <a:ext cx="11353800" cy="628650"/>
          </a:xfrm>
          <a:prstGeom prst="roundRect">
            <a:avLst>
              <a:gd name="adj" fmla="val 15152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图形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5829300"/>
            <a:ext cx="209550" cy="209550"/>
          </a:xfrm>
          <a:prstGeom prst="rect">
            <a:avLst/>
          </a:prstGeom>
          <a:ln/>
        </p:spPr>
      </p:pic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971550" y="5753100"/>
            <a:ext cx="603885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总体周期约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4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个月，每阶段设置里程碑评审，确保按期高质量交付。</a:t>
            </a:r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419100" y="6619875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11296650" y="6619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0E3F8C', flexDirection: 'column', justifyContent: 'center', alignItems: 'center' }}&gt;&#10;  &lt;Box style={{ width: 90, height: 6, background: '#FFC107', marginBottom: 30 }} /&gt;&#10;  &lt;Text style={{ fontSize: 60, fontWeight: 'bold', color: '#FFFFFF' }}&gt;感谢聆听，请批评指正&lt;/Text&gt;&#10;  &lt;Text style={{ fontSize: 26, color: '#9DB8E0', marginTop: 26 }}&gt;AI 模拟面试与简历诊断助手&lt;/Text&gt;&#10;  &lt;Text style={{ fontSize: 22, color: '#CBD9EF', marginTop: 12 }}&gt;面向实习 · 秋招 · 保研面试的智能辅助系统&lt;/Text&gt;&#10;  &lt;Box style={{ width: 90, height: 6, background: '#FFC107', marginTop: 30 }} /&gt;&#10;  &lt;Text style={{ fontSize: 18, color: '#9DB8E0', marginTop: 30 }}&gt;汇报人：__________　　2026 年 10 月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26" name="矩形 25"/>
          <p:cNvSpPr/>
          <p:nvPr/>
        </p:nvSpPr>
        <p:spPr>
          <a:xfrm>
            <a:off x="5667375" y="2038350"/>
            <a:ext cx="8572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3238500" y="2381250"/>
            <a:ext cx="57150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感谢聆听，请批评指正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4572000" y="3314700"/>
            <a:ext cx="3048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>
                <a:solidFill>
                  <a:srgbClr val="9DB8E0"/>
                </a:solidFill>
                <a:latin typeface="Microsoft YaHei"/>
                <a:ea typeface="Microsoft YaHei"/>
              </a:rPr>
              <a:t>AI </a:t>
            </a:r>
            <a:r>
              <a:rPr lang="zh-CN" sz="1950">
                <a:solidFill>
                  <a:srgbClr val="9DB8E0"/>
                </a:solidFill>
                <a:latin typeface="Microsoft YaHei"/>
                <a:ea typeface="Microsoft YaHei"/>
              </a:rPr>
              <a:t>模拟面试与简历诊断助手</a:t>
            </a:r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4143375" y="3733800"/>
            <a:ext cx="391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9EF"/>
                </a:solidFill>
                <a:latin typeface="Microsoft YaHei"/>
                <a:ea typeface="Microsoft YaHei"/>
              </a:rPr>
              <a:t>面向实习</a:t>
            </a:r>
            <a:r>
              <a:rPr lang="en-US" sz="1650">
                <a:solidFill>
                  <a:srgbClr val="CBD9EF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BD9EF"/>
                </a:solidFill>
                <a:latin typeface="Microsoft YaHei"/>
                <a:ea typeface="Microsoft YaHei"/>
              </a:rPr>
              <a:t>秋招</a:t>
            </a:r>
            <a:r>
              <a:rPr lang="en-US" sz="1650">
                <a:solidFill>
                  <a:srgbClr val="CBD9EF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BD9EF"/>
                </a:solidFill>
                <a:latin typeface="Microsoft YaHei"/>
                <a:ea typeface="Microsoft YaHei"/>
              </a:rPr>
              <a:t>保研面试的智能辅助系统</a:t>
            </a:r>
            <a:endParaRPr/>
          </a:p>
        </p:txBody>
      </p:sp>
      <p:sp>
        <p:nvSpPr>
          <p:cNvPr id="30" name="矩形 29"/>
          <p:cNvSpPr/>
          <p:nvPr/>
        </p:nvSpPr>
        <p:spPr>
          <a:xfrm>
            <a:off x="5667375" y="4276725"/>
            <a:ext cx="8572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4648200" y="4619625"/>
            <a:ext cx="2895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dirty="0">
                <a:solidFill>
                  <a:srgbClr val="9DB8E0"/>
                </a:solidFill>
                <a:latin typeface="Microsoft YaHei"/>
                <a:ea typeface="Microsoft YaHei"/>
              </a:rPr>
              <a:t>汇报人：</a:t>
            </a:r>
            <a:r>
              <a:rPr lang="zh-CN" altLang="en-US" sz="1350" dirty="0">
                <a:solidFill>
                  <a:srgbClr val="9DB8E0"/>
                </a:solidFill>
                <a:latin typeface="Microsoft YaHei"/>
                <a:ea typeface="Microsoft YaHei"/>
              </a:rPr>
              <a:t>何云川 </a:t>
            </a:r>
            <a:r>
              <a:rPr lang="zh-CN" sz="1350" dirty="0">
                <a:solidFill>
                  <a:srgbClr val="9DB8E0"/>
                </a:solidFill>
                <a:latin typeface="Microsoft YaHei"/>
                <a:ea typeface="Microsoft YaHei"/>
              </a:rPr>
              <a:t>　</a:t>
            </a:r>
            <a:r>
              <a:rPr lang="en-US" sz="1350" dirty="0">
                <a:solidFill>
                  <a:srgbClr val="9DB8E0"/>
                </a:solidFill>
                <a:latin typeface="Microsoft YaHei"/>
                <a:ea typeface="Microsoft YaHei"/>
              </a:rPr>
              <a:t>2026 </a:t>
            </a:r>
            <a:r>
              <a:rPr lang="zh-CN" sz="1350" dirty="0">
                <a:solidFill>
                  <a:srgbClr val="9DB8E0"/>
                </a:solidFill>
                <a:latin typeface="Microsoft YaHei"/>
                <a:ea typeface="Microsoft YaHei"/>
              </a:rPr>
              <a:t>年</a:t>
            </a:r>
            <a:r>
              <a:rPr lang="en-US" sz="1350" dirty="0">
                <a:solidFill>
                  <a:srgbClr val="9DB8E0"/>
                </a:solidFill>
                <a:latin typeface="Microsoft YaHei"/>
                <a:ea typeface="Microsoft YaHei"/>
              </a:rPr>
              <a:t> 10 </a:t>
            </a:r>
            <a:r>
              <a:rPr lang="zh-CN" sz="1350" dirty="0">
                <a:solidFill>
                  <a:srgbClr val="9DB8E0"/>
                </a:solidFill>
                <a:latin typeface="Microsoft YaHei"/>
                <a:ea typeface="Microsoft YaHei"/>
              </a:rPr>
              <a:t>月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宽屏</PresentationFormat>
  <Paragraphs>175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川云 何</cp:lastModifiedBy>
  <cp:revision>2</cp:revision>
  <dcterms:created xsi:type="dcterms:W3CDTF">2026-10-06T12:25:59Z</dcterms:created>
  <dcterms:modified xsi:type="dcterms:W3CDTF">2026-10-08T05:11:33Z</dcterms:modified>
</cp:coreProperties>
</file>